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62" r:id="rId4"/>
    <p:sldId id="259" r:id="rId5"/>
    <p:sldId id="260" r:id="rId6"/>
    <p:sldId id="264" r:id="rId7"/>
    <p:sldId id="265" r:id="rId8"/>
    <p:sldId id="266" r:id="rId9"/>
    <p:sldId id="267" r:id="rId10"/>
    <p:sldId id="268" r:id="rId11"/>
    <p:sldId id="269"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13D1A26-0671-DDEA-C15F-61A3151A558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08F6A24-AD9E-083E-6D36-9E271A72F0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0D86DC6-5D01-C7B0-D89F-4279AD496E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9981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54EFC2A-F105-271C-D073-68011CD0CC5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B872D3A-58B2-9BEE-F653-948A69BB50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03F4440-EB32-40BE-8139-6403E0BE0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8366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B6DEBAF-99BA-5DE5-373B-5F7A5EA9C02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3A7F6D5-2FA7-8B8A-95BE-FA6FCB0531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7DF9623-7062-CCA4-0702-2520E1E77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705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41E02B5-1D8C-1B6E-64A9-19E516503D2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8CDDBB0-8680-E800-9899-AB5744FE38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CCBE8AC-69C1-61E7-297E-02A83CBEDF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026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8FB4F5E-530C-DAB4-28CB-16410D97AE1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F958156-75FB-3787-B99E-4E8D9D6DBF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1BCA664-333D-012B-BF86-8B7501A0A6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540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41C5926-D6C5-4E42-E5E7-A97FCA7D537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441CACF-D18F-A030-182E-6D7C8CDD1D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3CD2E38-4E1F-A7E4-3BCC-76888C7A34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6359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4C5AC72-BBA7-16F3-2861-31044DA8FEF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25D50AC-AE8A-3490-F001-5D67EAC019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35A6F0C-C3F2-3FE5-AD77-192C2A6CF1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493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0080E72-3E95-B3D5-189E-75B378B249D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F805DD6-9833-F93B-610A-0C8D24FCEA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9B97262-C33C-F85B-0FC4-22DC9F365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3815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9832" y="19664"/>
            <a:ext cx="12192000" cy="6858000"/>
          </a:xfrm>
          <a:prstGeom prst="rect">
            <a:avLst/>
          </a:prstGeom>
          <a:noFill/>
          <a:ln>
            <a:noFill/>
          </a:ln>
        </p:spPr>
      </p:pic>
      <p:sp>
        <p:nvSpPr>
          <p:cNvPr id="86" name="Google Shape;86;p13"/>
          <p:cNvSpPr txBox="1"/>
          <p:nvPr/>
        </p:nvSpPr>
        <p:spPr>
          <a:xfrm>
            <a:off x="1085850" y="1866260"/>
            <a:ext cx="10401300" cy="1661993"/>
          </a:xfrm>
          <a:prstGeom prst="rect">
            <a:avLst/>
          </a:prstGeom>
          <a:noFill/>
          <a:ln>
            <a:noFill/>
          </a:ln>
        </p:spPr>
        <p:txBody>
          <a:bodyPr spcFirstLastPara="1" wrap="square" lIns="0" tIns="0" rIns="0" bIns="0" anchor="t" anchorCtr="0">
            <a:spAutoFit/>
          </a:bodyPr>
          <a:lstStyle/>
          <a:p>
            <a:pPr lvl="0"/>
            <a:r>
              <a:rPr lang="en-US" sz="5400" b="1" dirty="0">
                <a:latin typeface="Times New Roman" panose="02020603050405020304" pitchFamily="18" charset="0"/>
                <a:cs typeface="Times New Roman" panose="02020603050405020304" pitchFamily="18" charset="0"/>
              </a:rPr>
              <a:t>Aegis: Decentralized Identity &amp; Zero Trust Access Control System</a:t>
            </a: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88" name="Google Shape;88;p13"/>
          <p:cNvSpPr txBox="1"/>
          <p:nvPr/>
        </p:nvSpPr>
        <p:spPr>
          <a:xfrm>
            <a:off x="771525" y="4065895"/>
            <a:ext cx="5101737" cy="2169825"/>
          </a:xfrm>
          <a:prstGeom prst="rect">
            <a:avLst/>
          </a:prstGeom>
          <a:noFill/>
          <a:ln>
            <a:noFill/>
          </a:ln>
        </p:spPr>
        <p:txBody>
          <a:bodyPr spcFirstLastPara="1" wrap="square" lIns="0" tIns="0" rIns="0" bIns="0" anchor="t" anchorCtr="0">
            <a:spAutoFit/>
          </a:bodyPr>
          <a:lstStyle/>
          <a:p>
            <a:pPr lvl="3">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Presented by: </a:t>
            </a:r>
            <a:endParaRPr sz="235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5">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Owais Shaikh        46</a:t>
            </a:r>
          </a:p>
          <a:p>
            <a:pPr lvl="5">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Zaheen Siddiqui    53</a:t>
            </a:r>
          </a:p>
          <a:p>
            <a:pPr lvl="5">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Prem </a:t>
            </a:r>
            <a:r>
              <a:rPr lang="en-US" sz="2350" dirty="0" err="1">
                <a:solidFill>
                  <a:schemeClr val="dk1"/>
                </a:solidFill>
                <a:latin typeface="Times New Roman" panose="02020603050405020304" pitchFamily="18" charset="0"/>
                <a:ea typeface="Times New Roman"/>
                <a:cs typeface="Times New Roman" panose="02020603050405020304" pitchFamily="18" charset="0"/>
                <a:sym typeface="Times New Roman"/>
              </a:rPr>
              <a:t>Hanchate</a:t>
            </a: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65</a:t>
            </a:r>
          </a:p>
          <a:p>
            <a:pPr lvl="5">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Hassan Qureshi     68</a:t>
            </a:r>
          </a:p>
          <a:p>
            <a:pPr marL="0" marR="0" lvl="0" indent="0" algn="ctr" rtl="0">
              <a:spcBef>
                <a:spcPts val="0"/>
              </a:spcBef>
              <a:spcAft>
                <a:spcPts val="0"/>
              </a:spcAft>
              <a:buNone/>
            </a:pPr>
            <a:endParaRPr sz="235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89" name="Google Shape;89;p13"/>
          <p:cNvSpPr txBox="1"/>
          <p:nvPr/>
        </p:nvSpPr>
        <p:spPr>
          <a:xfrm>
            <a:off x="11037050" y="6410325"/>
            <a:ext cx="383400" cy="238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50" b="0" i="0" u="none" strike="noStrike" cap="none">
                <a:solidFill>
                  <a:schemeClr val="dk1"/>
                </a:solidFill>
                <a:latin typeface="Times New Roman" panose="02020603050405020304" pitchFamily="18" charset="0"/>
                <a:ea typeface="Arimo"/>
                <a:cs typeface="Times New Roman" panose="02020603050405020304" pitchFamily="18" charset="0"/>
                <a:sym typeface="Arimo"/>
              </a:rPr>
              <a:t>01</a:t>
            </a:r>
            <a:endParaRPr sz="1900">
              <a:solidFill>
                <a:schemeClr val="dk1"/>
              </a:solidFill>
              <a:latin typeface="Times New Roman" panose="02020603050405020304" pitchFamily="18" charset="0"/>
              <a:cs typeface="Times New Roman" panose="02020603050405020304" pitchFamily="18" charset="0"/>
            </a:endParaRPr>
          </a:p>
        </p:txBody>
      </p:sp>
      <p:sp>
        <p:nvSpPr>
          <p:cNvPr id="90" name="Google Shape;90;p13"/>
          <p:cNvSpPr txBox="1"/>
          <p:nvPr/>
        </p:nvSpPr>
        <p:spPr>
          <a:xfrm>
            <a:off x="3200" y="102800"/>
            <a:ext cx="12192000" cy="1757700"/>
          </a:xfrm>
          <a:prstGeom prst="rect">
            <a:avLst/>
          </a:prstGeom>
          <a:noFill/>
          <a:ln>
            <a:noFill/>
          </a:ln>
        </p:spPr>
        <p:txBody>
          <a:bodyPr spcFirstLastPara="1" wrap="square" lIns="91425" tIns="91425" rIns="91425" bIns="91425" anchor="t" anchorCtr="0">
            <a:no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91" name="Google Shape;91;p13" title="dbit logo.jpeg"/>
          <p:cNvPicPr preferRelativeResize="0"/>
          <p:nvPr/>
        </p:nvPicPr>
        <p:blipFill>
          <a:blip r:embed="rId4">
            <a:alphaModFix/>
          </a:blip>
          <a:stretch>
            <a:fillRect/>
          </a:stretch>
        </p:blipFill>
        <p:spPr>
          <a:xfrm>
            <a:off x="10972030" y="116049"/>
            <a:ext cx="1210138" cy="1121516"/>
          </a:xfrm>
          <a:prstGeom prst="rect">
            <a:avLst/>
          </a:prstGeom>
          <a:noFill/>
          <a:ln>
            <a:noFill/>
          </a:ln>
        </p:spPr>
      </p:pic>
      <p:sp>
        <p:nvSpPr>
          <p:cNvPr id="3" name="TextBox 2">
            <a:extLst>
              <a:ext uri="{FF2B5EF4-FFF2-40B4-BE49-F238E27FC236}">
                <a16:creationId xmlns:a16="http://schemas.microsoft.com/office/drawing/2014/main" id="{A195AE89-E42E-7809-37D7-B0A1F00E2FC9}"/>
              </a:ext>
            </a:extLst>
          </p:cNvPr>
          <p:cNvSpPr txBox="1"/>
          <p:nvPr/>
        </p:nvSpPr>
        <p:spPr>
          <a:xfrm>
            <a:off x="5054092" y="3936100"/>
            <a:ext cx="6174658" cy="1177245"/>
          </a:xfrm>
          <a:prstGeom prst="rect">
            <a:avLst/>
          </a:prstGeom>
          <a:noFill/>
        </p:spPr>
        <p:txBody>
          <a:bodyPr wrap="square">
            <a:spAutoFit/>
          </a:bodyPr>
          <a:lstStyle/>
          <a:p>
            <a:pPr lvl="3">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Supervisor: </a:t>
            </a:r>
          </a:p>
          <a:p>
            <a:pPr lvl="5">
              <a:buClr>
                <a:schemeClr val="dk1"/>
              </a:buClr>
            </a:pPr>
            <a:r>
              <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rPr>
              <a:t>		Prof. Prasad Padalkar </a:t>
            </a:r>
          </a:p>
          <a:p>
            <a:pPr marL="0" marR="0" lvl="0" indent="0" algn="ctr" rtl="0">
              <a:spcBef>
                <a:spcPts val="0"/>
              </a:spcBef>
              <a:spcAft>
                <a:spcPts val="0"/>
              </a:spcAft>
              <a:buNone/>
            </a:pPr>
            <a:endParaRPr lang="en-US" sz="235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Rectangle 3">
            <a:extLst>
              <a:ext uri="{FF2B5EF4-FFF2-40B4-BE49-F238E27FC236}">
                <a16:creationId xmlns:a16="http://schemas.microsoft.com/office/drawing/2014/main" id="{28E711E4-5296-197B-5110-FB241F9E4030}"/>
              </a:ext>
            </a:extLst>
          </p:cNvPr>
          <p:cNvSpPr/>
          <p:nvPr/>
        </p:nvSpPr>
        <p:spPr>
          <a:xfrm>
            <a:off x="6096000" y="5230196"/>
            <a:ext cx="3883742" cy="5819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Group No : 17</a:t>
            </a:r>
            <a:endParaRPr lang="en-US"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7697E7B-AE06-3149-335C-64BA54184A1D}"/>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01</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p:cNvSpPr txBox="1"/>
          <p:nvPr/>
        </p:nvSpPr>
        <p:spPr>
          <a:xfrm>
            <a:off x="799024" y="904281"/>
            <a:ext cx="11181300" cy="461700"/>
          </a:xfrm>
          <a:prstGeom prst="rect">
            <a:avLst/>
          </a:prstGeom>
          <a:noFill/>
          <a:ln>
            <a:noFill/>
          </a:ln>
        </p:spPr>
        <p:txBody>
          <a:bodyPr spcFirstLastPara="1" wrap="square" lIns="0" tIns="0" rIns="0" bIns="0" anchor="t" anchorCtr="0">
            <a:spAutoFit/>
          </a:bodyPr>
          <a:lstStyle/>
          <a:p>
            <a:pPr lvl="0"/>
            <a:r>
              <a:rPr lang="en-US" sz="3000" b="1" i="0" u="none" strike="noStrike" cap="none" dirty="0">
                <a:solidFill>
                  <a:srgbClr val="111827"/>
                </a:solidFill>
                <a:latin typeface="Times New Roman" panose="02020603050405020304" pitchFamily="18" charset="0"/>
                <a:ea typeface="Times New Roman"/>
                <a:cs typeface="Times New Roman" panose="02020603050405020304" pitchFamily="18" charset="0"/>
                <a:sym typeface="Times New Roman"/>
              </a:rPr>
              <a:t>INTRODUCTION</a:t>
            </a:r>
            <a:endParaRPr lang="en-US"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0" name="Google Shape;100;p14"/>
          <p:cNvSpPr txBox="1"/>
          <p:nvPr/>
        </p:nvSpPr>
        <p:spPr>
          <a:xfrm>
            <a:off x="11069175" y="6410325"/>
            <a:ext cx="351300" cy="238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50">
                <a:solidFill>
                  <a:schemeClr val="dk1"/>
                </a:solidFill>
                <a:latin typeface="Times New Roman" panose="02020603050405020304" pitchFamily="18" charset="0"/>
                <a:ea typeface="Arimo"/>
                <a:cs typeface="Times New Roman" panose="02020603050405020304" pitchFamily="18" charset="0"/>
                <a:sym typeface="Arimo"/>
              </a:rPr>
              <a:t>02</a:t>
            </a: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676813-1E67-E492-CCE4-AC7D74138273}"/>
              </a:ext>
            </a:extLst>
          </p:cNvPr>
          <p:cNvSpPr txBox="1"/>
          <p:nvPr/>
        </p:nvSpPr>
        <p:spPr>
          <a:xfrm>
            <a:off x="680728" y="1569368"/>
            <a:ext cx="10767245" cy="4478149"/>
          </a:xfrm>
          <a:prstGeom prst="rect">
            <a:avLst/>
          </a:prstGeom>
          <a:noFill/>
        </p:spPr>
        <p:txBody>
          <a:bodyPr wrap="square">
            <a:spAutoFit/>
          </a:bodyPr>
          <a:lstStyle/>
          <a:p>
            <a:r>
              <a:rPr lang="en-US" sz="1900" dirty="0">
                <a:latin typeface="Times New Roman" panose="02020603050405020304" pitchFamily="18" charset="0"/>
                <a:cs typeface="Times New Roman" panose="02020603050405020304" pitchFamily="18" charset="0"/>
              </a:rPr>
              <a:t>Modern applications require secure authentication and fine-grained access control to protect users and resources. The proposed system combines </a:t>
            </a:r>
            <a:r>
              <a:rPr lang="en-US" sz="1900" b="1" dirty="0">
                <a:latin typeface="Times New Roman" panose="02020603050405020304" pitchFamily="18" charset="0"/>
                <a:cs typeface="Times New Roman" panose="02020603050405020304" pitchFamily="18" charset="0"/>
              </a:rPr>
              <a:t>Decentralized Identity, password-less wallet authentication, and Zero Trust authorization</a:t>
            </a:r>
            <a:r>
              <a:rPr lang="en-US" sz="1900" dirty="0">
                <a:latin typeface="Times New Roman" panose="02020603050405020304" pitchFamily="18" charset="0"/>
                <a:cs typeface="Times New Roman" panose="02020603050405020304" pitchFamily="18" charset="0"/>
              </a:rPr>
              <a:t> to provide secure access without relying on traditional application passwords. MetaMask is used to prove control of a cryptographic wallet through signed challenges, while the backend verifies the user's identity, device, session, and permissions before granting access. Blockchain provides tamper-resistant identity, policy, and revocation information, while MongoDB stores operational data and audit logs. </a:t>
            </a:r>
          </a:p>
          <a:p>
            <a:endParaRPr lang="en-US" sz="1900" b="1"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Key Points</a:t>
            </a:r>
          </a:p>
          <a:p>
            <a:endParaRPr lang="en-US" sz="19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Password-less authentication</a:t>
            </a:r>
            <a:r>
              <a:rPr lang="en-US" sz="1900" dirty="0">
                <a:latin typeface="Times New Roman" panose="02020603050405020304" pitchFamily="18" charset="0"/>
                <a:cs typeface="Times New Roman" panose="02020603050405020304" pitchFamily="18" charset="0"/>
              </a:rPr>
              <a:t> using MetaMask. </a:t>
            </a:r>
          </a:p>
          <a:p>
            <a:pPr marL="342900" lvl="0" indent="-34290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Decentralized Identity (DID)</a:t>
            </a:r>
            <a:r>
              <a:rPr lang="en-US" sz="1900" dirty="0">
                <a:latin typeface="Times New Roman" panose="02020603050405020304" pitchFamily="18" charset="0"/>
                <a:cs typeface="Times New Roman" panose="02020603050405020304" pitchFamily="18" charset="0"/>
              </a:rPr>
              <a:t> linked to a public key. </a:t>
            </a:r>
          </a:p>
          <a:p>
            <a:pPr marL="342900" lvl="0" indent="-34290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Zero Trust</a:t>
            </a:r>
            <a:r>
              <a:rPr lang="en-US" sz="1900" dirty="0">
                <a:latin typeface="Times New Roman" panose="02020603050405020304" pitchFamily="18" charset="0"/>
                <a:cs typeface="Times New Roman" panose="02020603050405020304" pitchFamily="18" charset="0"/>
              </a:rPr>
              <a:t> access control for every request. </a:t>
            </a:r>
          </a:p>
          <a:p>
            <a:pPr marL="342900" lvl="0" indent="-34290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Blockchain-backed</a:t>
            </a:r>
            <a:r>
              <a:rPr lang="en-US" sz="1900" dirty="0">
                <a:latin typeface="Times New Roman" panose="02020603050405020304" pitchFamily="18" charset="0"/>
                <a:cs typeface="Times New Roman" panose="02020603050405020304" pitchFamily="18" charset="0"/>
              </a:rPr>
              <a:t> identity and revocation records. </a:t>
            </a:r>
          </a:p>
          <a:p>
            <a:pPr marL="342900" lvl="0" indent="-34290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Device management and audit logging</a:t>
            </a:r>
            <a:r>
              <a:rPr lang="en-US" sz="1900" dirty="0">
                <a:latin typeface="Times New Roman" panose="02020603050405020304" pitchFamily="18" charset="0"/>
                <a:cs typeface="Times New Roman" panose="02020603050405020304" pitchFamily="18" charset="0"/>
              </a:rPr>
              <a:t> for additional security.</a:t>
            </a:r>
          </a:p>
        </p:txBody>
      </p:sp>
      <p:sp>
        <p:nvSpPr>
          <p:cNvPr id="5" name="TextBox 4">
            <a:extLst>
              <a:ext uri="{FF2B5EF4-FFF2-40B4-BE49-F238E27FC236}">
                <a16:creationId xmlns:a16="http://schemas.microsoft.com/office/drawing/2014/main" id="{29734CF4-8339-DC6A-9B37-91C38C288DE1}"/>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9" name="Google Shape;91;p13" title="dbit logo.jpeg">
            <a:extLst>
              <a:ext uri="{FF2B5EF4-FFF2-40B4-BE49-F238E27FC236}">
                <a16:creationId xmlns:a16="http://schemas.microsoft.com/office/drawing/2014/main" id="{6300A627-BAB5-26B5-09D0-39D590813AE9}"/>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6" name="Rectangle 5">
            <a:extLst>
              <a:ext uri="{FF2B5EF4-FFF2-40B4-BE49-F238E27FC236}">
                <a16:creationId xmlns:a16="http://schemas.microsoft.com/office/drawing/2014/main" id="{5209CA77-EA1C-2E2B-2892-954A150BA28D}"/>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02</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9832"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113" name="Google Shape;113;p15"/>
          <p:cNvSpPr txBox="1"/>
          <p:nvPr/>
        </p:nvSpPr>
        <p:spPr>
          <a:xfrm>
            <a:off x="771525" y="750135"/>
            <a:ext cx="111813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11827"/>
                </a:solidFill>
                <a:latin typeface="Times New Roman" panose="02020603050405020304" pitchFamily="18" charset="0"/>
                <a:ea typeface="Times New Roman"/>
                <a:cs typeface="Times New Roman" panose="02020603050405020304" pitchFamily="18" charset="0"/>
                <a:sym typeface="Times New Roman"/>
              </a:rPr>
              <a:t>LITERATURE SURVEY</a:t>
            </a:r>
            <a:endParaRPr dirty="0">
              <a:latin typeface="Times New Roman" panose="02020603050405020304" pitchFamily="18" charset="0"/>
              <a:ea typeface="Times New Roman"/>
              <a:cs typeface="Times New Roman" panose="02020603050405020304" pitchFamily="18" charset="0"/>
              <a:sym typeface="Times New Roman"/>
            </a:endParaRPr>
          </a:p>
        </p:txBody>
      </p:sp>
      <p:sp>
        <p:nvSpPr>
          <p:cNvPr id="114" name="Google Shape;114;p15"/>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15" name="Google Shape;115;p15"/>
          <p:cNvSpPr txBox="1"/>
          <p:nvPr/>
        </p:nvSpPr>
        <p:spPr>
          <a:xfrm>
            <a:off x="11020975" y="6410325"/>
            <a:ext cx="399600" cy="238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50" dirty="0">
                <a:solidFill>
                  <a:schemeClr val="dk1"/>
                </a:solidFill>
                <a:latin typeface="Times New Roman" panose="02020603050405020304" pitchFamily="18" charset="0"/>
                <a:ea typeface="Arimo"/>
                <a:cs typeface="Times New Roman" panose="02020603050405020304" pitchFamily="18" charset="0"/>
                <a:sym typeface="Arimo"/>
              </a:rPr>
              <a:t>0</a:t>
            </a:r>
            <a:endParaRPr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8EAB552-80B7-EAFB-8AF2-11893B7FADC7}"/>
              </a:ext>
            </a:extLst>
          </p:cNvPr>
          <p:cNvGraphicFramePr>
            <a:graphicFrameLocks noGrp="1"/>
          </p:cNvGraphicFramePr>
          <p:nvPr>
            <p:extLst>
              <p:ext uri="{D42A27DB-BD31-4B8C-83A1-F6EECF244321}">
                <p14:modId xmlns:p14="http://schemas.microsoft.com/office/powerpoint/2010/main" val="2948788123"/>
              </p:ext>
            </p:extLst>
          </p:nvPr>
        </p:nvGraphicFramePr>
        <p:xfrm>
          <a:off x="608985" y="1517386"/>
          <a:ext cx="11181299" cy="3464098"/>
        </p:xfrm>
        <a:graphic>
          <a:graphicData uri="http://schemas.openxmlformats.org/drawingml/2006/table">
            <a:tbl>
              <a:tblPr>
                <a:tableStyleId>{2D5ABB26-0587-4C30-8999-92F81FD0307C}</a:tableStyleId>
              </a:tblPr>
              <a:tblGrid>
                <a:gridCol w="3224108">
                  <a:extLst>
                    <a:ext uri="{9D8B030D-6E8A-4147-A177-3AD203B41FA5}">
                      <a16:colId xmlns:a16="http://schemas.microsoft.com/office/drawing/2014/main" val="1010737435"/>
                    </a:ext>
                  </a:extLst>
                </a:gridCol>
                <a:gridCol w="4230090">
                  <a:extLst>
                    <a:ext uri="{9D8B030D-6E8A-4147-A177-3AD203B41FA5}">
                      <a16:colId xmlns:a16="http://schemas.microsoft.com/office/drawing/2014/main" val="485920019"/>
                    </a:ext>
                  </a:extLst>
                </a:gridCol>
                <a:gridCol w="3727101">
                  <a:extLst>
                    <a:ext uri="{9D8B030D-6E8A-4147-A177-3AD203B41FA5}">
                      <a16:colId xmlns:a16="http://schemas.microsoft.com/office/drawing/2014/main" val="2161797077"/>
                    </a:ext>
                  </a:extLst>
                </a:gridCol>
              </a:tblGrid>
              <a:tr h="278777">
                <a:tc>
                  <a:txBody>
                    <a:bodyPr/>
                    <a:lstStyle/>
                    <a:p>
                      <a:pPr>
                        <a:buNone/>
                      </a:pPr>
                      <a:r>
                        <a:rPr lang="en-US" sz="1400" b="1" dirty="0">
                          <a:latin typeface="Times New Roman" panose="02020603050405020304" pitchFamily="18" charset="0"/>
                          <a:cs typeface="Times New Roman" panose="02020603050405020304" pitchFamily="18" charset="0"/>
                        </a:rPr>
                        <a:t>Literature / Standard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latin typeface="Times New Roman" panose="02020603050405020304" pitchFamily="18" charset="0"/>
                          <a:cs typeface="Times New Roman" panose="02020603050405020304" pitchFamily="18" charset="0"/>
                        </a:rPr>
                        <a:t>Key Contribution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latin typeface="Times New Roman" panose="02020603050405020304" pitchFamily="18" charset="0"/>
                          <a:cs typeface="Times New Roman" panose="02020603050405020304" pitchFamily="18" charset="0"/>
                        </a:rPr>
                        <a:t>Relevance to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592983"/>
                  </a:ext>
                </a:extLst>
              </a:tr>
              <a:tr h="784144">
                <a:tc>
                  <a:txBody>
                    <a:bodyPr/>
                    <a:lstStyle/>
                    <a:p>
                      <a:pPr>
                        <a:buNone/>
                      </a:pPr>
                      <a:r>
                        <a:rPr lang="en-US" sz="1400" b="1" dirty="0">
                          <a:latin typeface="Times New Roman" panose="02020603050405020304" pitchFamily="18" charset="0"/>
                          <a:cs typeface="Times New Roman" panose="02020603050405020304" pitchFamily="18" charset="0"/>
                        </a:rPr>
                        <a:t>W3C — Decentralized Identifiers (DIDs)</a:t>
                      </a:r>
                      <a:endParaRPr 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Defines decentralized, verifiable digital identity independent of centralized identity providers. (W3C)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Supports the </a:t>
                      </a:r>
                      <a:r>
                        <a:rPr lang="en-US" sz="1400" b="1" dirty="0">
                          <a:latin typeface="Times New Roman" panose="02020603050405020304" pitchFamily="18" charset="0"/>
                          <a:cs typeface="Times New Roman" panose="02020603050405020304" pitchFamily="18" charset="0"/>
                        </a:rPr>
                        <a:t>DID-based identity</a:t>
                      </a:r>
                      <a:r>
                        <a:rPr lang="en-US" sz="1400" dirty="0">
                          <a:latin typeface="Times New Roman" panose="02020603050405020304" pitchFamily="18" charset="0"/>
                          <a:cs typeface="Times New Roman" panose="02020603050405020304" pitchFamily="18" charset="0"/>
                        </a:rPr>
                        <a:t>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316306"/>
                  </a:ext>
                </a:extLst>
              </a:tr>
              <a:tr h="859490">
                <a:tc>
                  <a:txBody>
                    <a:bodyPr/>
                    <a:lstStyle/>
                    <a:p>
                      <a:pPr>
                        <a:buNone/>
                      </a:pPr>
                      <a:r>
                        <a:rPr lang="en-US" sz="1400" b="1" dirty="0">
                          <a:latin typeface="Times New Roman" panose="02020603050405020304" pitchFamily="18" charset="0"/>
                          <a:cs typeface="Times New Roman" panose="02020603050405020304" pitchFamily="18" charset="0"/>
                        </a:rPr>
                        <a:t>NIST SP 800-207 — Zero Trust Architecture</a:t>
                      </a:r>
                      <a:endParaRPr 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Recommends removing implicit trust and focusing authentication/authorization on users, devices and resources. (NIST Computer Security Resource Center)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Supports the </a:t>
                      </a:r>
                      <a:r>
                        <a:rPr lang="en-US" sz="1400" b="1">
                          <a:latin typeface="Times New Roman" panose="02020603050405020304" pitchFamily="18" charset="0"/>
                          <a:cs typeface="Times New Roman" panose="02020603050405020304" pitchFamily="18" charset="0"/>
                        </a:rPr>
                        <a:t>Zero Trust authorization model</a:t>
                      </a:r>
                      <a:r>
                        <a:rPr lang="en-US" sz="14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210100"/>
                  </a:ext>
                </a:extLst>
              </a:tr>
              <a:tr h="669064">
                <a:tc>
                  <a:txBody>
                    <a:bodyPr/>
                    <a:lstStyle/>
                    <a:p>
                      <a:pPr>
                        <a:buNone/>
                      </a:pPr>
                      <a:r>
                        <a:rPr lang="en-US" sz="1400" b="1" dirty="0">
                          <a:latin typeface="Times New Roman" panose="02020603050405020304" pitchFamily="18" charset="0"/>
                          <a:cs typeface="Times New Roman" panose="02020603050405020304" pitchFamily="18" charset="0"/>
                        </a:rPr>
                        <a:t>EIP-4361 — Sign-In with Ethereum</a:t>
                      </a:r>
                      <a:endParaRPr 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Defines wallet-based authentication using signed messages, domain, address and nonce. (Ethereum Improvement Proposals)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Supports </a:t>
                      </a:r>
                      <a:r>
                        <a:rPr lang="en-US" sz="1400" b="1">
                          <a:latin typeface="Times New Roman" panose="02020603050405020304" pitchFamily="18" charset="0"/>
                          <a:cs typeface="Times New Roman" panose="02020603050405020304" pitchFamily="18" charset="0"/>
                        </a:rPr>
                        <a:t>MetaMask/challenge-response authentication</a:t>
                      </a:r>
                      <a:r>
                        <a:rPr lang="en-US" sz="14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88930"/>
                  </a:ext>
                </a:extLst>
              </a:tr>
              <a:tr h="784144">
                <a:tc>
                  <a:txBody>
                    <a:bodyPr/>
                    <a:lstStyle/>
                    <a:p>
                      <a:pPr>
                        <a:buNone/>
                      </a:pPr>
                      <a:r>
                        <a:rPr lang="en-US" sz="1400" b="1">
                          <a:latin typeface="Times New Roman" panose="02020603050405020304" pitchFamily="18" charset="0"/>
                          <a:cs typeface="Times New Roman" panose="02020603050405020304" pitchFamily="18" charset="0"/>
                        </a:rPr>
                        <a:t>NIST ZTA Access-Control Model</a:t>
                      </a:r>
                      <a:endParaRPr lang="en-US"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Applies Zero Trust principles to application/service-level access control instead of relying mainly on network location. (NIST)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Supports </a:t>
                      </a:r>
                      <a:r>
                        <a:rPr lang="en-US" sz="1400" b="1" dirty="0">
                          <a:latin typeface="Times New Roman" panose="02020603050405020304" pitchFamily="18" charset="0"/>
                          <a:cs typeface="Times New Roman" panose="02020603050405020304" pitchFamily="18" charset="0"/>
                        </a:rPr>
                        <a:t>resource-level authorization</a:t>
                      </a:r>
                      <a:r>
                        <a:rPr lang="en-US" sz="1400" dirty="0">
                          <a:latin typeface="Times New Roman" panose="02020603050405020304" pitchFamily="18" charset="0"/>
                          <a:cs typeface="Times New Roman" panose="02020603050405020304" pitchFamily="18" charset="0"/>
                        </a:rPr>
                        <a:t> in the proposed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682432"/>
                  </a:ext>
                </a:extLst>
              </a:tr>
            </a:tbl>
          </a:graphicData>
        </a:graphic>
      </p:graphicFrame>
      <p:sp>
        <p:nvSpPr>
          <p:cNvPr id="4" name="TextBox 3">
            <a:extLst>
              <a:ext uri="{FF2B5EF4-FFF2-40B4-BE49-F238E27FC236}">
                <a16:creationId xmlns:a16="http://schemas.microsoft.com/office/drawing/2014/main" id="{CBC131A5-8380-9E32-295E-34B303AF53D2}"/>
              </a:ext>
            </a:extLst>
          </p:cNvPr>
          <p:cNvSpPr txBox="1"/>
          <p:nvPr/>
        </p:nvSpPr>
        <p:spPr>
          <a:xfrm>
            <a:off x="608984" y="5134912"/>
            <a:ext cx="11181299" cy="1077218"/>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Literature Gap :</a:t>
            </a:r>
          </a:p>
          <a:p>
            <a:pPr>
              <a:buNone/>
            </a:pPr>
            <a:r>
              <a:rPr lang="en-US" sz="1600" dirty="0">
                <a:latin typeface="Times New Roman" panose="02020603050405020304" pitchFamily="18" charset="0"/>
                <a:cs typeface="Times New Roman" panose="02020603050405020304" pitchFamily="18" charset="0"/>
              </a:rPr>
              <a:t>Existing standards and approaches address </a:t>
            </a:r>
            <a:r>
              <a:rPr lang="en-US" sz="1600" b="1" dirty="0">
                <a:latin typeface="Times New Roman" panose="02020603050405020304" pitchFamily="18" charset="0"/>
                <a:cs typeface="Times New Roman" panose="02020603050405020304" pitchFamily="18" charset="0"/>
              </a:rPr>
              <a:t>decentralized identity, wallet authentication, or Zero Trust individually</a:t>
            </a:r>
            <a:r>
              <a:rPr lang="en-US" sz="1600" dirty="0">
                <a:latin typeface="Times New Roman" panose="02020603050405020304" pitchFamily="18" charset="0"/>
                <a:cs typeface="Times New Roman" panose="02020603050405020304" pitchFamily="18" charset="0"/>
              </a:rPr>
              <a:t>. The proposed project combines these concepts with </a:t>
            </a:r>
            <a:r>
              <a:rPr lang="en-US" sz="1600" b="1" dirty="0">
                <a:latin typeface="Times New Roman" panose="02020603050405020304" pitchFamily="18" charset="0"/>
                <a:cs typeface="Times New Roman" panose="02020603050405020304" pitchFamily="18" charset="0"/>
              </a:rPr>
              <a:t>device revocation, blockchain-backed policy/revocation state and tamper-resistant auditing</a:t>
            </a:r>
            <a:r>
              <a:rPr lang="en-US" sz="1600" dirty="0">
                <a:latin typeface="Times New Roman" panose="02020603050405020304" pitchFamily="18" charset="0"/>
                <a:cs typeface="Times New Roman" panose="02020603050405020304" pitchFamily="18" charset="0"/>
              </a:rPr>
              <a:t> into one access-control architecture.</a:t>
            </a:r>
          </a:p>
        </p:txBody>
      </p:sp>
      <p:sp>
        <p:nvSpPr>
          <p:cNvPr id="6" name="TextBox 5">
            <a:extLst>
              <a:ext uri="{FF2B5EF4-FFF2-40B4-BE49-F238E27FC236}">
                <a16:creationId xmlns:a16="http://schemas.microsoft.com/office/drawing/2014/main" id="{E660B8A6-28E0-3C05-8240-DA1D6D7B0336}"/>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Google Shape;91;p13" title="dbit logo.jpeg">
            <a:extLst>
              <a:ext uri="{FF2B5EF4-FFF2-40B4-BE49-F238E27FC236}">
                <a16:creationId xmlns:a16="http://schemas.microsoft.com/office/drawing/2014/main" id="{A37FF490-A9CA-BCD2-2694-1F399F2C9092}"/>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7" name="Rectangle 6">
            <a:extLst>
              <a:ext uri="{FF2B5EF4-FFF2-40B4-BE49-F238E27FC236}">
                <a16:creationId xmlns:a16="http://schemas.microsoft.com/office/drawing/2014/main" id="{8B43ED6E-9E68-17C8-B658-564038294539}"/>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03</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a:extLst>
            <a:ext uri="{FF2B5EF4-FFF2-40B4-BE49-F238E27FC236}">
              <a16:creationId xmlns:a16="http://schemas.microsoft.com/office/drawing/2014/main" id="{24590D0F-2FF3-787C-1D66-A0187AEC4266}"/>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E6B19153-4F01-9136-C996-F05943CCAAD0}"/>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614D85A8-2F7D-4FEE-0FAF-B1FA5E459580}"/>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E0A5D804-CD01-DBC5-DAF2-3932251D2A2C}"/>
              </a:ext>
            </a:extLst>
          </p:cNvPr>
          <p:cNvSpPr txBox="1"/>
          <p:nvPr/>
        </p:nvSpPr>
        <p:spPr>
          <a:xfrm>
            <a:off x="799024" y="904281"/>
            <a:ext cx="11181300" cy="461700"/>
          </a:xfrm>
          <a:prstGeom prst="rect">
            <a:avLst/>
          </a:prstGeom>
          <a:noFill/>
          <a:ln>
            <a:noFill/>
          </a:ln>
        </p:spPr>
        <p:txBody>
          <a:bodyPr spcFirstLastPara="1" wrap="square" lIns="0" tIns="0" rIns="0" bIns="0" anchor="t" anchorCtr="0">
            <a:spAutoFit/>
          </a:bodyPr>
          <a:lstStyle/>
          <a:p>
            <a:pPr lvl="0"/>
            <a:r>
              <a:rPr lang="en-US" sz="3000" b="1" i="0" u="none" strike="noStrike" cap="none" dirty="0">
                <a:solidFill>
                  <a:srgbClr val="111827"/>
                </a:solidFill>
                <a:latin typeface="Times New Roman" panose="02020603050405020304" pitchFamily="18" charset="0"/>
                <a:ea typeface="Times New Roman"/>
                <a:cs typeface="Times New Roman" panose="02020603050405020304" pitchFamily="18" charset="0"/>
                <a:sym typeface="Times New Roman"/>
              </a:rPr>
              <a:t>PROBLEM STATEMENT </a:t>
            </a:r>
            <a:endParaRPr lang="en-US"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A8E77FDF-195A-FBC1-67AB-BC74901071B0}"/>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0" name="Google Shape;100;p14">
            <a:extLst>
              <a:ext uri="{FF2B5EF4-FFF2-40B4-BE49-F238E27FC236}">
                <a16:creationId xmlns:a16="http://schemas.microsoft.com/office/drawing/2014/main" id="{7D0EFEE5-E16F-F3AE-B108-1D926DA1A262}"/>
              </a:ext>
            </a:extLst>
          </p:cNvPr>
          <p:cNvSpPr txBox="1"/>
          <p:nvPr/>
        </p:nvSpPr>
        <p:spPr>
          <a:xfrm>
            <a:off x="11069175" y="6410325"/>
            <a:ext cx="351300" cy="238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50" dirty="0">
                <a:solidFill>
                  <a:schemeClr val="dk1"/>
                </a:solidFill>
                <a:latin typeface="Times New Roman" panose="02020603050405020304" pitchFamily="18" charset="0"/>
                <a:ea typeface="Arimo"/>
                <a:cs typeface="Times New Roman" panose="02020603050405020304" pitchFamily="18" charset="0"/>
                <a:sym typeface="Arimo"/>
              </a:rPr>
              <a:t>4</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000D02F-E52D-44C6-469E-F3A2D7AD3606}"/>
              </a:ext>
            </a:extLst>
          </p:cNvPr>
          <p:cNvSpPr txBox="1"/>
          <p:nvPr/>
        </p:nvSpPr>
        <p:spPr>
          <a:xfrm>
            <a:off x="680729" y="1569368"/>
            <a:ext cx="10878282" cy="19389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Traditional authentication systems commonly depend on passwords and centralized identity management, which creates risks such as password theft, phishing, replay attacks, compromised devices, and unauthorized access. A successful login does not necessarily mean that a user should have access to every resource. In addition, stolen devices, outdated permissions, and modified audit records can create further security risks. The system therefore needs to continuously verify identity, device status, session validity, and resource permissions before allowing access. </a:t>
            </a:r>
          </a:p>
        </p:txBody>
      </p:sp>
      <p:sp>
        <p:nvSpPr>
          <p:cNvPr id="5" name="TextBox 4">
            <a:extLst>
              <a:ext uri="{FF2B5EF4-FFF2-40B4-BE49-F238E27FC236}">
                <a16:creationId xmlns:a16="http://schemas.microsoft.com/office/drawing/2014/main" id="{0A2541FD-0350-A780-96C5-BCD99800622F}"/>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Google Shape;91;p13" title="dbit logo.jpeg">
            <a:extLst>
              <a:ext uri="{FF2B5EF4-FFF2-40B4-BE49-F238E27FC236}">
                <a16:creationId xmlns:a16="http://schemas.microsoft.com/office/drawing/2014/main" id="{301C00F9-70BD-0E87-20BF-504ADEEB86B6}"/>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9" name="TextBox 8">
            <a:extLst>
              <a:ext uri="{FF2B5EF4-FFF2-40B4-BE49-F238E27FC236}">
                <a16:creationId xmlns:a16="http://schemas.microsoft.com/office/drawing/2014/main" id="{4DE60170-EEE9-2DD4-B6F8-943FD101AFD5}"/>
              </a:ext>
            </a:extLst>
          </p:cNvPr>
          <p:cNvSpPr txBox="1"/>
          <p:nvPr/>
        </p:nvSpPr>
        <p:spPr>
          <a:xfrm>
            <a:off x="799024" y="3446585"/>
            <a:ext cx="6167802" cy="553998"/>
          </a:xfrm>
          <a:prstGeom prst="rect">
            <a:avLst/>
          </a:prstGeom>
          <a:noFill/>
        </p:spPr>
        <p:txBody>
          <a:bodyPr wrap="square">
            <a:spAutoFit/>
          </a:bodyPr>
          <a:lstStyle/>
          <a:p>
            <a:pPr lvl="0"/>
            <a:r>
              <a:rPr lang="en-US" sz="3000" b="1" dirty="0">
                <a:solidFill>
                  <a:srgbClr val="111827"/>
                </a:solidFill>
                <a:latin typeface="Times New Roman" panose="02020603050405020304" pitchFamily="18" charset="0"/>
                <a:ea typeface="Times New Roman"/>
                <a:cs typeface="Times New Roman" panose="02020603050405020304" pitchFamily="18" charset="0"/>
                <a:sym typeface="Times New Roman"/>
              </a:rPr>
              <a:t>SCOPE</a:t>
            </a:r>
            <a:endParaRPr lang="en-US" sz="1400" dirty="0">
              <a:latin typeface="Times New Roman" panose="02020603050405020304" pitchFamily="18" charset="0"/>
              <a:ea typeface="Times New Roman"/>
              <a:cs typeface="Times New Roman" panose="02020603050405020304" pitchFamily="18" charset="0"/>
              <a:sym typeface="Times New Roman"/>
            </a:endParaRPr>
          </a:p>
        </p:txBody>
      </p:sp>
      <p:sp>
        <p:nvSpPr>
          <p:cNvPr id="11" name="TextBox 10">
            <a:extLst>
              <a:ext uri="{FF2B5EF4-FFF2-40B4-BE49-F238E27FC236}">
                <a16:creationId xmlns:a16="http://schemas.microsoft.com/office/drawing/2014/main" id="{D2DF08E8-C76E-9713-DD60-7D2E8A743EC6}"/>
              </a:ext>
            </a:extLst>
          </p:cNvPr>
          <p:cNvSpPr txBox="1"/>
          <p:nvPr/>
        </p:nvSpPr>
        <p:spPr>
          <a:xfrm>
            <a:off x="799024" y="4073404"/>
            <a:ext cx="10400582" cy="2246769"/>
          </a:xfrm>
          <a:prstGeom prst="rect">
            <a:avLst/>
          </a:prstGeom>
          <a:noFill/>
        </p:spPr>
        <p:txBody>
          <a:bodyPr wrap="square">
            <a:spAutoFit/>
          </a:bodyPr>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Decentralized identity and wallet-based authentication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Password-less challenge-response authentication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Zero Trust resource authorization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Device enrolment, replacement and revocation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Blockchain-backed identity, policy and revocation state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MongoDB-based operational data and audit storage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Security auditing and integrity anchoring</a:t>
            </a:r>
          </a:p>
        </p:txBody>
      </p:sp>
      <p:pic>
        <p:nvPicPr>
          <p:cNvPr id="13" name="Picture 12">
            <a:extLst>
              <a:ext uri="{FF2B5EF4-FFF2-40B4-BE49-F238E27FC236}">
                <a16:creationId xmlns:a16="http://schemas.microsoft.com/office/drawing/2014/main" id="{168DEF56-5BAB-6A10-4C88-19FB95295186}"/>
              </a:ext>
            </a:extLst>
          </p:cNvPr>
          <p:cNvPicPr>
            <a:picLocks noChangeAspect="1"/>
          </p:cNvPicPr>
          <p:nvPr/>
        </p:nvPicPr>
        <p:blipFill>
          <a:blip r:embed="rId6"/>
          <a:stretch>
            <a:fillRect/>
          </a:stretch>
        </p:blipFill>
        <p:spPr>
          <a:xfrm>
            <a:off x="771524" y="3919303"/>
            <a:ext cx="10878283" cy="149378"/>
          </a:xfrm>
          <a:prstGeom prst="rect">
            <a:avLst/>
          </a:prstGeom>
        </p:spPr>
      </p:pic>
      <p:sp>
        <p:nvSpPr>
          <p:cNvPr id="15" name="Rectangle 14">
            <a:extLst>
              <a:ext uri="{FF2B5EF4-FFF2-40B4-BE49-F238E27FC236}">
                <a16:creationId xmlns:a16="http://schemas.microsoft.com/office/drawing/2014/main" id="{D8168DEB-A785-76EB-5728-567EA47DFFF8}"/>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04</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479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a:extLst>
            <a:ext uri="{FF2B5EF4-FFF2-40B4-BE49-F238E27FC236}">
              <a16:creationId xmlns:a16="http://schemas.microsoft.com/office/drawing/2014/main" id="{C35E0C39-534C-9DFE-65AD-C7D206368AAB}"/>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115FF421-F26F-FC0D-EB54-885221771BD8}"/>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A8D360DF-72A9-DCDB-3AAC-9F354DCFAA18}"/>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B982863F-A19F-D905-995C-28A7FE82C8C2}"/>
              </a:ext>
            </a:extLst>
          </p:cNvPr>
          <p:cNvSpPr txBox="1"/>
          <p:nvPr/>
        </p:nvSpPr>
        <p:spPr>
          <a:xfrm>
            <a:off x="799024" y="904281"/>
            <a:ext cx="11181300" cy="461700"/>
          </a:xfrm>
          <a:prstGeom prst="rect">
            <a:avLst/>
          </a:prstGeom>
          <a:noFill/>
          <a:ln>
            <a:noFill/>
          </a:ln>
        </p:spPr>
        <p:txBody>
          <a:bodyPr spcFirstLastPara="1" wrap="square" lIns="0" tIns="0" rIns="0" bIns="0" anchor="t" anchorCtr="0">
            <a:spAutoFit/>
          </a:bodyPr>
          <a:lstStyle/>
          <a:p>
            <a:pPr lvl="0"/>
            <a:r>
              <a:rPr lang="en-US" sz="3000" b="1" dirty="0">
                <a:solidFill>
                  <a:srgbClr val="111827"/>
                </a:solidFill>
                <a:latin typeface="Times New Roman" panose="02020603050405020304" pitchFamily="18" charset="0"/>
                <a:ea typeface="Times New Roman"/>
                <a:cs typeface="Times New Roman" panose="02020603050405020304" pitchFamily="18" charset="0"/>
                <a:sym typeface="Times New Roman"/>
              </a:rPr>
              <a:t>PROPOSED </a:t>
            </a:r>
            <a:r>
              <a:rPr lang="en-US" sz="3000" b="1" i="0" u="none" strike="noStrike" cap="none" dirty="0">
                <a:solidFill>
                  <a:srgbClr val="111827"/>
                </a:solidFill>
                <a:latin typeface="Times New Roman" panose="02020603050405020304" pitchFamily="18" charset="0"/>
                <a:ea typeface="Times New Roman"/>
                <a:cs typeface="Times New Roman" panose="02020603050405020304" pitchFamily="18" charset="0"/>
                <a:sym typeface="Times New Roman"/>
              </a:rPr>
              <a:t>SYSTEM</a:t>
            </a:r>
            <a:endParaRPr lang="en-US"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123B6588-12B4-518C-C07A-494138479A1C}"/>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 name="Rectangle 2">
            <a:extLst>
              <a:ext uri="{FF2B5EF4-FFF2-40B4-BE49-F238E27FC236}">
                <a16:creationId xmlns:a16="http://schemas.microsoft.com/office/drawing/2014/main" id="{5A636088-EAE0-ED81-F19F-DB6622BC11F8}"/>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05</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1CE115A-4001-09FE-CCA1-80551D32F7CF}"/>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Google Shape;91;p13" title="dbit logo.jpeg">
            <a:extLst>
              <a:ext uri="{FF2B5EF4-FFF2-40B4-BE49-F238E27FC236}">
                <a16:creationId xmlns:a16="http://schemas.microsoft.com/office/drawing/2014/main" id="{9609F2FC-C49F-E147-55DF-0E559ECFADBA}"/>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10" name="TextBox 9">
            <a:extLst>
              <a:ext uri="{FF2B5EF4-FFF2-40B4-BE49-F238E27FC236}">
                <a16:creationId xmlns:a16="http://schemas.microsoft.com/office/drawing/2014/main" id="{F837D7FD-58AD-F2FD-5E12-CCA3BD260023}"/>
              </a:ext>
            </a:extLst>
          </p:cNvPr>
          <p:cNvSpPr txBox="1"/>
          <p:nvPr/>
        </p:nvSpPr>
        <p:spPr>
          <a:xfrm>
            <a:off x="293674" y="4251423"/>
            <a:ext cx="11824494" cy="2539157"/>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Core Components</a:t>
            </a:r>
          </a:p>
          <a:p>
            <a:endParaRPr lang="en-US" sz="1900" b="1"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React + MetaMask</a:t>
            </a:r>
            <a:r>
              <a:rPr lang="en-IN" sz="2000" dirty="0">
                <a:latin typeface="Times New Roman" panose="02020603050405020304" pitchFamily="18" charset="0"/>
                <a:cs typeface="Times New Roman" panose="02020603050405020304" pitchFamily="18" charset="0"/>
              </a:rPr>
              <a:t> — user/admin interaction and wallet authentication </a:t>
            </a:r>
          </a:p>
          <a:p>
            <a:pPr lvl="0"/>
            <a:r>
              <a:rPr lang="en-IN" sz="2000" b="1" dirty="0">
                <a:latin typeface="Times New Roman" panose="02020603050405020304" pitchFamily="18" charset="0"/>
                <a:cs typeface="Times New Roman" panose="02020603050405020304" pitchFamily="18" charset="0"/>
              </a:rPr>
              <a:t>Node.js + Express</a:t>
            </a:r>
            <a:r>
              <a:rPr lang="en-IN" sz="2000" dirty="0">
                <a:latin typeface="Times New Roman" panose="02020603050405020304" pitchFamily="18" charset="0"/>
                <a:cs typeface="Times New Roman" panose="02020603050405020304" pitchFamily="18" charset="0"/>
              </a:rPr>
              <a:t> — API, authentication and authorization </a:t>
            </a:r>
          </a:p>
          <a:p>
            <a:pPr lvl="0"/>
            <a:r>
              <a:rPr lang="en-IN" sz="2000" b="1" dirty="0">
                <a:latin typeface="Times New Roman" panose="02020603050405020304" pitchFamily="18" charset="0"/>
                <a:cs typeface="Times New Roman" panose="02020603050405020304" pitchFamily="18" charset="0"/>
              </a:rPr>
              <a:t>MongoDB</a:t>
            </a:r>
            <a:r>
              <a:rPr lang="en-IN" sz="2000" dirty="0">
                <a:latin typeface="Times New Roman" panose="02020603050405020304" pitchFamily="18" charset="0"/>
                <a:cs typeface="Times New Roman" panose="02020603050405020304" pitchFamily="18" charset="0"/>
              </a:rPr>
              <a:t> — operational and persistent application data </a:t>
            </a:r>
          </a:p>
          <a:p>
            <a:pPr lvl="0"/>
            <a:r>
              <a:rPr lang="en-IN" sz="2000" b="1" dirty="0">
                <a:latin typeface="Times New Roman" panose="02020603050405020304" pitchFamily="18" charset="0"/>
                <a:cs typeface="Times New Roman" panose="02020603050405020304" pitchFamily="18" charset="0"/>
              </a:rPr>
              <a:t>Zero Trust Engine</a:t>
            </a:r>
            <a:r>
              <a:rPr lang="en-IN" sz="2000" dirty="0">
                <a:latin typeface="Times New Roman" panose="02020603050405020304" pitchFamily="18" charset="0"/>
                <a:cs typeface="Times New Roman" panose="02020603050405020304" pitchFamily="18" charset="0"/>
              </a:rPr>
              <a:t> — evaluates every protected request </a:t>
            </a:r>
          </a:p>
          <a:p>
            <a:pPr lvl="0"/>
            <a:r>
              <a:rPr lang="en-IN" sz="2000" b="1" dirty="0">
                <a:latin typeface="Times New Roman" panose="02020603050405020304" pitchFamily="18" charset="0"/>
                <a:cs typeface="Times New Roman" panose="02020603050405020304" pitchFamily="18" charset="0"/>
              </a:rPr>
              <a:t>Blockchain Layer</a:t>
            </a:r>
            <a:r>
              <a:rPr lang="en-IN" sz="2000" dirty="0">
                <a:latin typeface="Times New Roman" panose="02020603050405020304" pitchFamily="18" charset="0"/>
                <a:cs typeface="Times New Roman" panose="02020603050405020304" pitchFamily="18" charset="0"/>
              </a:rPr>
              <a:t> — trusted identity, policy and revocation state </a:t>
            </a:r>
          </a:p>
          <a:p>
            <a:pPr lvl="0"/>
            <a:r>
              <a:rPr lang="en-IN" sz="2000" b="1" dirty="0">
                <a:latin typeface="Times New Roman" panose="02020603050405020304" pitchFamily="18" charset="0"/>
                <a:cs typeface="Times New Roman" panose="02020603050405020304" pitchFamily="18" charset="0"/>
              </a:rPr>
              <a:t>Audit Layer</a:t>
            </a:r>
            <a:r>
              <a:rPr lang="en-IN" sz="2000" dirty="0">
                <a:latin typeface="Times New Roman" panose="02020603050405020304" pitchFamily="18" charset="0"/>
                <a:cs typeface="Times New Roman" panose="02020603050405020304" pitchFamily="18" charset="0"/>
              </a:rPr>
              <a:t> — records security and access events</a:t>
            </a:r>
          </a:p>
        </p:txBody>
      </p:sp>
      <p:pic>
        <p:nvPicPr>
          <p:cNvPr id="12" name="Picture 11">
            <a:extLst>
              <a:ext uri="{FF2B5EF4-FFF2-40B4-BE49-F238E27FC236}">
                <a16:creationId xmlns:a16="http://schemas.microsoft.com/office/drawing/2014/main" id="{7097C1CA-9FD4-A1B8-87D1-FFFFEC16A829}"/>
              </a:ext>
            </a:extLst>
          </p:cNvPr>
          <p:cNvPicPr>
            <a:picLocks noChangeAspect="1"/>
          </p:cNvPicPr>
          <p:nvPr/>
        </p:nvPicPr>
        <p:blipFill>
          <a:blip r:embed="rId6"/>
          <a:stretch>
            <a:fillRect/>
          </a:stretch>
        </p:blipFill>
        <p:spPr>
          <a:xfrm>
            <a:off x="0" y="1472467"/>
            <a:ext cx="12192000" cy="2853035"/>
          </a:xfrm>
          <a:prstGeom prst="rect">
            <a:avLst/>
          </a:prstGeom>
        </p:spPr>
      </p:pic>
    </p:spTree>
    <p:extLst>
      <p:ext uri="{BB962C8B-B14F-4D97-AF65-F5344CB8AC3E}">
        <p14:creationId xmlns:p14="http://schemas.microsoft.com/office/powerpoint/2010/main" val="578159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CD23D05-B0C7-9DE4-F9C2-F36E8C561932}"/>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BADDFF0C-2D13-59F5-7645-9141A8907C01}"/>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8E28B722-B206-DE87-A5AA-6AF1301B28A8}"/>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078659C5-8596-ACBD-DC0D-138896D4AE4C}"/>
              </a:ext>
            </a:extLst>
          </p:cNvPr>
          <p:cNvSpPr txBox="1"/>
          <p:nvPr/>
        </p:nvSpPr>
        <p:spPr>
          <a:xfrm>
            <a:off x="799024" y="904281"/>
            <a:ext cx="11181300" cy="461700"/>
          </a:xfrm>
          <a:prstGeom prst="rect">
            <a:avLst/>
          </a:prstGeom>
          <a:noFill/>
          <a:ln>
            <a:noFill/>
          </a:ln>
        </p:spPr>
        <p:txBody>
          <a:bodyPr spcFirstLastPara="1" wrap="square" lIns="0" tIns="0" rIns="0" bIns="0" anchor="t" anchorCtr="0">
            <a:spAutoFit/>
          </a:bodyPr>
          <a:lstStyle/>
          <a:p>
            <a:pPr lvl="0"/>
            <a:r>
              <a:rPr lang="en-US" sz="3000" b="1" dirty="0">
                <a:solidFill>
                  <a:srgbClr val="111827"/>
                </a:solidFill>
                <a:latin typeface="Times New Roman"/>
                <a:ea typeface="Times New Roman"/>
                <a:cs typeface="Times New Roman"/>
                <a:sym typeface="Times New Roman"/>
              </a:rPr>
              <a:t>PROPOSED </a:t>
            </a:r>
            <a:r>
              <a:rPr lang="en-US" sz="3000" b="1" i="0" u="none" strike="noStrike" cap="none" dirty="0">
                <a:solidFill>
                  <a:srgbClr val="111827"/>
                </a:solidFill>
                <a:latin typeface="Times New Roman"/>
                <a:ea typeface="Times New Roman"/>
                <a:cs typeface="Times New Roman"/>
                <a:sym typeface="Times New Roman"/>
              </a:rPr>
              <a:t>SYSTEM</a:t>
            </a:r>
            <a:endParaRPr lang="en-US" dirty="0">
              <a:latin typeface="Times New Roman"/>
              <a:ea typeface="Times New Roman"/>
              <a:cs typeface="Times New Roman"/>
              <a:sym typeface="Times New Roman"/>
            </a:endParaRPr>
          </a:p>
        </p:txBody>
      </p:sp>
      <p:sp>
        <p:nvSpPr>
          <p:cNvPr id="99" name="Google Shape;99;p14">
            <a:extLst>
              <a:ext uri="{FF2B5EF4-FFF2-40B4-BE49-F238E27FC236}">
                <a16:creationId xmlns:a16="http://schemas.microsoft.com/office/drawing/2014/main" id="{E37F8F40-F19C-65F9-1CF5-4CADB3E57C33}"/>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170BDD40-2C9E-AA4D-4DD1-8C9E25D5D6AE}"/>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06</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E85287E-494B-3318-A33B-3DF6FF2C1287}"/>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a:ea typeface="Times New Roman"/>
                <a:cs typeface="Times New Roman"/>
                <a:sym typeface="Times New Roman"/>
              </a:rPr>
              <a:t>B.E.(I.T.) / MAJOR PROJECT 2026-27</a:t>
            </a:r>
            <a:endParaRPr lang="en-US" sz="3000" dirty="0">
              <a:solidFill>
                <a:srgbClr val="000000"/>
              </a:solidFill>
              <a:latin typeface="Times New Roman"/>
              <a:ea typeface="Times New Roman"/>
              <a:cs typeface="Times New Roman"/>
              <a:sym typeface="Times New Roman"/>
            </a:endParaRPr>
          </a:p>
        </p:txBody>
      </p:sp>
      <p:pic>
        <p:nvPicPr>
          <p:cNvPr id="8" name="Google Shape;91;p13" title="dbit logo.jpeg">
            <a:extLst>
              <a:ext uri="{FF2B5EF4-FFF2-40B4-BE49-F238E27FC236}">
                <a16:creationId xmlns:a16="http://schemas.microsoft.com/office/drawing/2014/main" id="{9F794A22-CD2D-A14E-F40B-F5F64BEDCB3E}"/>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pic>
        <p:nvPicPr>
          <p:cNvPr id="20" name="Picture 19">
            <a:extLst>
              <a:ext uri="{FF2B5EF4-FFF2-40B4-BE49-F238E27FC236}">
                <a16:creationId xmlns:a16="http://schemas.microsoft.com/office/drawing/2014/main" id="{0A1370A8-89C5-1CB8-0DB8-CBD0E3D32961}"/>
              </a:ext>
            </a:extLst>
          </p:cNvPr>
          <p:cNvPicPr>
            <a:picLocks noChangeAspect="1"/>
          </p:cNvPicPr>
          <p:nvPr/>
        </p:nvPicPr>
        <p:blipFill>
          <a:blip r:embed="rId6"/>
          <a:stretch>
            <a:fillRect/>
          </a:stretch>
        </p:blipFill>
        <p:spPr>
          <a:xfrm>
            <a:off x="197829" y="2021734"/>
            <a:ext cx="11878406" cy="482155"/>
          </a:xfrm>
          <a:prstGeom prst="rect">
            <a:avLst/>
          </a:prstGeom>
        </p:spPr>
      </p:pic>
      <p:sp>
        <p:nvSpPr>
          <p:cNvPr id="28" name="TextBox 27">
            <a:extLst>
              <a:ext uri="{FF2B5EF4-FFF2-40B4-BE49-F238E27FC236}">
                <a16:creationId xmlns:a16="http://schemas.microsoft.com/office/drawing/2014/main" id="{CFEA750B-208E-CD70-732E-4722B82BF572}"/>
              </a:ext>
            </a:extLst>
          </p:cNvPr>
          <p:cNvSpPr txBox="1"/>
          <p:nvPr/>
        </p:nvSpPr>
        <p:spPr>
          <a:xfrm>
            <a:off x="272561" y="4561891"/>
            <a:ext cx="2734408" cy="2246769"/>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Authentication</a:t>
            </a:r>
            <a:endParaRPr lang="en-IN" sz="20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Connect wallet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Request challenge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Sign challenge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Verify signature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Identify user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Create session</a:t>
            </a:r>
          </a:p>
        </p:txBody>
      </p:sp>
      <p:sp>
        <p:nvSpPr>
          <p:cNvPr id="30" name="TextBox 29">
            <a:extLst>
              <a:ext uri="{FF2B5EF4-FFF2-40B4-BE49-F238E27FC236}">
                <a16:creationId xmlns:a16="http://schemas.microsoft.com/office/drawing/2014/main" id="{026BB23E-1AD6-718A-F555-10FE7406BDC7}"/>
              </a:ext>
            </a:extLst>
          </p:cNvPr>
          <p:cNvSpPr txBox="1"/>
          <p:nvPr/>
        </p:nvSpPr>
        <p:spPr>
          <a:xfrm>
            <a:off x="3508865" y="4561891"/>
            <a:ext cx="3445850" cy="2246769"/>
          </a:xfrm>
          <a:prstGeom prst="rect">
            <a:avLst/>
          </a:prstGeom>
          <a:noFill/>
        </p:spPr>
        <p:txBody>
          <a:bodyPr wrap="square">
            <a:spAutoFit/>
          </a:bodyPr>
          <a:lstStyle/>
          <a:p>
            <a:pPr>
              <a:buNone/>
            </a:pPr>
            <a:r>
              <a:rPr lang="en-IN" sz="2000" b="1">
                <a:latin typeface="Times New Roman" panose="02020603050405020304" pitchFamily="18" charset="0"/>
                <a:cs typeface="Times New Roman" panose="02020603050405020304" pitchFamily="18" charset="0"/>
              </a:rPr>
              <a:t>Authorization</a:t>
            </a:r>
            <a:endParaRPr lang="en-IN" sz="200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Validate session </a:t>
            </a: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Validate identity </a:t>
            </a: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Validate device </a:t>
            </a: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Check role and permission </a:t>
            </a: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Check resource/action </a:t>
            </a:r>
          </a:p>
          <a:p>
            <a:pPr marL="342900" lvl="0" indent="-342900">
              <a:buFont typeface="+mj-lt"/>
              <a:buAutoNum type="arabicPeriod"/>
            </a:pPr>
            <a:r>
              <a:rPr lang="en-IN" sz="2000">
                <a:latin typeface="Times New Roman" panose="02020603050405020304" pitchFamily="18" charset="0"/>
                <a:cs typeface="Times New Roman" panose="02020603050405020304" pitchFamily="18" charset="0"/>
              </a:rPr>
              <a:t>Check revocation state </a:t>
            </a:r>
            <a:endParaRPr lang="en-IN" sz="2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5359255F-90AF-F373-6371-A983E64BC9E9}"/>
              </a:ext>
            </a:extLst>
          </p:cNvPr>
          <p:cNvSpPr txBox="1"/>
          <p:nvPr/>
        </p:nvSpPr>
        <p:spPr>
          <a:xfrm>
            <a:off x="6657975" y="4965085"/>
            <a:ext cx="6167802" cy="707886"/>
          </a:xfrm>
          <a:prstGeom prst="rect">
            <a:avLst/>
          </a:prstGeom>
          <a:noFill/>
        </p:spPr>
        <p:txBody>
          <a:bodyPr wrap="square">
            <a:spAutoFit/>
          </a:bodyPr>
          <a:lstStyle/>
          <a:p>
            <a:pPr marL="457200" lvl="0" indent="-457200">
              <a:buAutoNum type="arabicPeriod" startAt="7"/>
            </a:pPr>
            <a:r>
              <a:rPr lang="en-IN" sz="2000" dirty="0">
                <a:latin typeface="Times New Roman" panose="02020603050405020304" pitchFamily="18" charset="0"/>
                <a:cs typeface="Times New Roman" panose="02020603050405020304" pitchFamily="18" charset="0"/>
              </a:rPr>
              <a:t>Allow or deny </a:t>
            </a:r>
          </a:p>
          <a:p>
            <a:pPr marL="457200" lvl="0" indent="-457200">
              <a:buAutoNum type="arabicPeriod" startAt="7"/>
            </a:pPr>
            <a:r>
              <a:rPr lang="en-IN" sz="2000" dirty="0">
                <a:latin typeface="Times New Roman" panose="02020603050405020304" pitchFamily="18" charset="0"/>
                <a:cs typeface="Times New Roman" panose="02020603050405020304" pitchFamily="18" charset="0"/>
              </a:rPr>
              <a:t>Generate audit event</a:t>
            </a:r>
          </a:p>
        </p:txBody>
      </p:sp>
      <p:pic>
        <p:nvPicPr>
          <p:cNvPr id="36" name="Picture 35">
            <a:extLst>
              <a:ext uri="{FF2B5EF4-FFF2-40B4-BE49-F238E27FC236}">
                <a16:creationId xmlns:a16="http://schemas.microsoft.com/office/drawing/2014/main" id="{1ABE42A0-FCA6-0368-5616-EA48F0B74187}"/>
              </a:ext>
            </a:extLst>
          </p:cNvPr>
          <p:cNvPicPr>
            <a:picLocks noChangeAspect="1"/>
          </p:cNvPicPr>
          <p:nvPr/>
        </p:nvPicPr>
        <p:blipFill>
          <a:blip r:embed="rId7"/>
          <a:stretch>
            <a:fillRect/>
          </a:stretch>
        </p:blipFill>
        <p:spPr>
          <a:xfrm>
            <a:off x="165475" y="2596241"/>
            <a:ext cx="11943113" cy="2367629"/>
          </a:xfrm>
          <a:prstGeom prst="rect">
            <a:avLst/>
          </a:prstGeom>
        </p:spPr>
      </p:pic>
    </p:spTree>
    <p:extLst>
      <p:ext uri="{BB962C8B-B14F-4D97-AF65-F5344CB8AC3E}">
        <p14:creationId xmlns:p14="http://schemas.microsoft.com/office/powerpoint/2010/main" val="3852378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FD43806-5E52-1CDF-909E-EB0ADE5E4E0F}"/>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76513298-7C01-4D13-A81A-AEAC73F54E30}"/>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192162E2-36EC-AF0E-4AC9-7822AD8A7527}"/>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65B94B94-9DEE-E299-85B4-5ABF386D997F}"/>
              </a:ext>
            </a:extLst>
          </p:cNvPr>
          <p:cNvSpPr txBox="1"/>
          <p:nvPr/>
        </p:nvSpPr>
        <p:spPr>
          <a:xfrm>
            <a:off x="799024" y="904281"/>
            <a:ext cx="11181300" cy="461700"/>
          </a:xfrm>
          <a:prstGeom prst="rect">
            <a:avLst/>
          </a:prstGeom>
          <a:noFill/>
          <a:ln>
            <a:noFill/>
          </a:ln>
        </p:spPr>
        <p:txBody>
          <a:bodyPr spcFirstLastPara="1" wrap="square" lIns="0" tIns="0" rIns="0" bIns="0" anchor="t" anchorCtr="0">
            <a:spAutoFit/>
          </a:bodyPr>
          <a:lstStyle/>
          <a:p>
            <a:pPr lvl="0"/>
            <a:r>
              <a:rPr lang="en-US" sz="3000" b="1" dirty="0">
                <a:solidFill>
                  <a:srgbClr val="111827"/>
                </a:solidFill>
                <a:latin typeface="Times New Roman"/>
                <a:ea typeface="Times New Roman"/>
                <a:cs typeface="Times New Roman"/>
                <a:sym typeface="Times New Roman"/>
              </a:rPr>
              <a:t>PROPOSED </a:t>
            </a:r>
            <a:r>
              <a:rPr lang="en-US" sz="3000" b="1" i="0" u="none" strike="noStrike" cap="none" dirty="0">
                <a:solidFill>
                  <a:srgbClr val="111827"/>
                </a:solidFill>
                <a:latin typeface="Times New Roman"/>
                <a:ea typeface="Times New Roman"/>
                <a:cs typeface="Times New Roman"/>
                <a:sym typeface="Times New Roman"/>
              </a:rPr>
              <a:t>SYSTEM</a:t>
            </a:r>
            <a:endParaRPr lang="en-US" dirty="0">
              <a:latin typeface="Times New Roman"/>
              <a:ea typeface="Times New Roman"/>
              <a:cs typeface="Times New Roman"/>
              <a:sym typeface="Times New Roman"/>
            </a:endParaRPr>
          </a:p>
        </p:txBody>
      </p:sp>
      <p:sp>
        <p:nvSpPr>
          <p:cNvPr id="99" name="Google Shape;99;p14">
            <a:extLst>
              <a:ext uri="{FF2B5EF4-FFF2-40B4-BE49-F238E27FC236}">
                <a16:creationId xmlns:a16="http://schemas.microsoft.com/office/drawing/2014/main" id="{099F001D-D216-CB6F-39B6-2E95F5D6B6FA}"/>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BA1813D1-C520-F43A-32C1-30008E9F05DB}"/>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07</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5A3D27-AED7-F0AA-8DC5-35BF39E0CAF5}"/>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a:ea typeface="Times New Roman"/>
                <a:cs typeface="Times New Roman"/>
                <a:sym typeface="Times New Roman"/>
              </a:rPr>
              <a:t>B.E.(I.T.) / MAJOR PROJECT 2026-27</a:t>
            </a:r>
            <a:endParaRPr lang="en-US" sz="3000" dirty="0">
              <a:solidFill>
                <a:srgbClr val="000000"/>
              </a:solidFill>
              <a:latin typeface="Times New Roman"/>
              <a:ea typeface="Times New Roman"/>
              <a:cs typeface="Times New Roman"/>
              <a:sym typeface="Times New Roman"/>
            </a:endParaRPr>
          </a:p>
        </p:txBody>
      </p:sp>
      <p:pic>
        <p:nvPicPr>
          <p:cNvPr id="8" name="Google Shape;91;p13" title="dbit logo.jpeg">
            <a:extLst>
              <a:ext uri="{FF2B5EF4-FFF2-40B4-BE49-F238E27FC236}">
                <a16:creationId xmlns:a16="http://schemas.microsoft.com/office/drawing/2014/main" id="{92CF6415-D077-E581-A38A-4FFF0B0BDE1D}"/>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4" name="TextBox 3">
            <a:extLst>
              <a:ext uri="{FF2B5EF4-FFF2-40B4-BE49-F238E27FC236}">
                <a16:creationId xmlns:a16="http://schemas.microsoft.com/office/drawing/2014/main" id="{8A13A2DD-1A6C-C058-C6B8-9901B28C6D7E}"/>
              </a:ext>
            </a:extLst>
          </p:cNvPr>
          <p:cNvSpPr txBox="1"/>
          <p:nvPr/>
        </p:nvSpPr>
        <p:spPr>
          <a:xfrm>
            <a:off x="771524" y="1979979"/>
            <a:ext cx="8820883" cy="4478149"/>
          </a:xfrm>
          <a:prstGeom prst="rect">
            <a:avLst/>
          </a:prstGeom>
          <a:noFill/>
        </p:spPr>
        <p:txBody>
          <a:bodyPr wrap="square">
            <a:spAutoFit/>
          </a:bodyPr>
          <a:lstStyle/>
          <a:p>
            <a:pPr>
              <a:buNone/>
            </a:pPr>
            <a:r>
              <a:rPr lang="en-IN" sz="2500" b="1" dirty="0">
                <a:latin typeface="Times New Roman" panose="02020603050405020304" pitchFamily="18" charset="0"/>
                <a:cs typeface="Times New Roman" panose="02020603050405020304" pitchFamily="18" charset="0"/>
              </a:rPr>
              <a:t>Zero Trust Authorization Algorithm</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Input: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identity, device, session, resource, action</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Decision checks:</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Session is valid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Identity is ACTIVE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Device is ACTIVE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Required role exists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Required permission exists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Resource/action is permitted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Identity/device/permission are not revoked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Network/risk context is acceptable</a:t>
            </a:r>
          </a:p>
        </p:txBody>
      </p:sp>
    </p:spTree>
    <p:extLst>
      <p:ext uri="{BB962C8B-B14F-4D97-AF65-F5344CB8AC3E}">
        <p14:creationId xmlns:p14="http://schemas.microsoft.com/office/powerpoint/2010/main" val="2054748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06AA288-C1CE-89FB-9522-A3653ACF0519}"/>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5A6EF2FE-1FBB-0151-9137-1B0AF198F923}"/>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69392486-A2C7-70EF-C3A3-07F9B5537130}"/>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59AF24C9-C599-BDDE-FCB9-46743EFFC841}"/>
              </a:ext>
            </a:extLst>
          </p:cNvPr>
          <p:cNvSpPr txBox="1"/>
          <p:nvPr/>
        </p:nvSpPr>
        <p:spPr>
          <a:xfrm>
            <a:off x="799024" y="904281"/>
            <a:ext cx="11181300" cy="492443"/>
          </a:xfrm>
          <a:prstGeom prst="rect">
            <a:avLst/>
          </a:prstGeom>
          <a:noFill/>
          <a:ln>
            <a:noFill/>
          </a:ln>
        </p:spPr>
        <p:txBody>
          <a:bodyPr spcFirstLastPara="1" wrap="square" lIns="0" tIns="0" rIns="0" bIns="0" anchor="t" anchorCtr="0">
            <a:spAutoFit/>
          </a:bodyPr>
          <a:lstStyle/>
          <a:p>
            <a:pPr lvl="0"/>
            <a:r>
              <a:rPr lang="en-IN" sz="3200" b="1" dirty="0">
                <a:latin typeface="Times New Roman" panose="02020603050405020304" pitchFamily="18" charset="0"/>
                <a:cs typeface="Times New Roman" panose="02020603050405020304" pitchFamily="18" charset="0"/>
              </a:rPr>
              <a:t>Experimental Setup — Dataset / Input Data</a:t>
            </a:r>
            <a:endParaRPr lang="en-US" b="1"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2182F458-AB0C-6CE7-DB87-EEC173F771EA}"/>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233099FB-D471-357D-A7A1-EA05BEBD9D3E}"/>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08</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EDE103-DEE6-77D4-55C8-36EA44EEE07A}"/>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a:ea typeface="Times New Roman"/>
                <a:cs typeface="Times New Roman"/>
                <a:sym typeface="Times New Roman"/>
              </a:rPr>
              <a:t>B.E.(I.T.) / MAJOR PROJECT 2026-27</a:t>
            </a:r>
            <a:endParaRPr lang="en-US" sz="3000" dirty="0">
              <a:solidFill>
                <a:srgbClr val="000000"/>
              </a:solidFill>
              <a:latin typeface="Times New Roman"/>
              <a:ea typeface="Times New Roman"/>
              <a:cs typeface="Times New Roman"/>
              <a:sym typeface="Times New Roman"/>
            </a:endParaRPr>
          </a:p>
        </p:txBody>
      </p:sp>
      <p:pic>
        <p:nvPicPr>
          <p:cNvPr id="8" name="Google Shape;91;p13" title="dbit logo.jpeg">
            <a:extLst>
              <a:ext uri="{FF2B5EF4-FFF2-40B4-BE49-F238E27FC236}">
                <a16:creationId xmlns:a16="http://schemas.microsoft.com/office/drawing/2014/main" id="{29CF88F5-B57F-5F5D-7ECD-9200ADF3C24F}"/>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graphicFrame>
        <p:nvGraphicFramePr>
          <p:cNvPr id="7" name="Table 6">
            <a:extLst>
              <a:ext uri="{FF2B5EF4-FFF2-40B4-BE49-F238E27FC236}">
                <a16:creationId xmlns:a16="http://schemas.microsoft.com/office/drawing/2014/main" id="{2C0F5012-56E0-8C14-4912-5383EE365235}"/>
              </a:ext>
            </a:extLst>
          </p:cNvPr>
          <p:cNvGraphicFramePr>
            <a:graphicFrameLocks noGrp="1"/>
          </p:cNvGraphicFramePr>
          <p:nvPr>
            <p:extLst>
              <p:ext uri="{D42A27DB-BD31-4B8C-83A1-F6EECF244321}">
                <p14:modId xmlns:p14="http://schemas.microsoft.com/office/powerpoint/2010/main" val="3792990310"/>
              </p:ext>
            </p:extLst>
          </p:nvPr>
        </p:nvGraphicFramePr>
        <p:xfrm>
          <a:off x="799024" y="2157487"/>
          <a:ext cx="4687376" cy="2463741"/>
        </p:xfrm>
        <a:graphic>
          <a:graphicData uri="http://schemas.openxmlformats.org/drawingml/2006/table">
            <a:tbl>
              <a:tblPr firstRow="1" firstCol="1" bandRow="1">
                <a:tableStyleId>{5940675A-B579-460E-94D1-54222C63F5DA}</a:tableStyleId>
              </a:tblPr>
              <a:tblGrid>
                <a:gridCol w="2111304">
                  <a:extLst>
                    <a:ext uri="{9D8B030D-6E8A-4147-A177-3AD203B41FA5}">
                      <a16:colId xmlns:a16="http://schemas.microsoft.com/office/drawing/2014/main" val="3235405195"/>
                    </a:ext>
                  </a:extLst>
                </a:gridCol>
                <a:gridCol w="2576072">
                  <a:extLst>
                    <a:ext uri="{9D8B030D-6E8A-4147-A177-3AD203B41FA5}">
                      <a16:colId xmlns:a16="http://schemas.microsoft.com/office/drawing/2014/main" val="624402134"/>
                    </a:ext>
                  </a:extLst>
                </a:gridCol>
              </a:tblGrid>
              <a:tr h="0">
                <a:tc>
                  <a:txBody>
                    <a:bodyPr/>
                    <a:lstStyle/>
                    <a:p>
                      <a:pPr>
                        <a:lnSpc>
                          <a:spcPct val="107000"/>
                        </a:lnSpc>
                        <a:spcAft>
                          <a:spcPts val="800"/>
                        </a:spcAft>
                        <a:buNone/>
                      </a:pPr>
                      <a:r>
                        <a:rPr lang="en-IN" sz="1800" b="1" kern="100">
                          <a:effectLst/>
                          <a:latin typeface="Times New Roman" panose="02020603050405020304" pitchFamily="18" charset="0"/>
                          <a:cs typeface="Times New Roman" panose="02020603050405020304" pitchFamily="18" charset="0"/>
                        </a:rPr>
                        <a:t>Data</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Purpose</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0622347"/>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Wallet address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Decentralized identity</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4006323"/>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Challenge / nonce</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Authentication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3483638"/>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Session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Access validity</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2341425"/>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Device information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Device trust</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6451238"/>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Roles &amp; permissions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Authorization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3212528"/>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Resources &amp; actions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Resource-level control</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17736759"/>
                  </a:ext>
                </a:extLst>
              </a:tr>
              <a:tr h="0">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Revocation state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Access invalidation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9986026"/>
                  </a:ext>
                </a:extLst>
              </a:tr>
              <a:tr h="0">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Audit events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Security monitoring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1468696"/>
                  </a:ext>
                </a:extLst>
              </a:tr>
            </a:tbl>
          </a:graphicData>
        </a:graphic>
      </p:graphicFrame>
      <p:sp>
        <p:nvSpPr>
          <p:cNvPr id="12" name="TextBox 11">
            <a:extLst>
              <a:ext uri="{FF2B5EF4-FFF2-40B4-BE49-F238E27FC236}">
                <a16:creationId xmlns:a16="http://schemas.microsoft.com/office/drawing/2014/main" id="{723B889A-30EA-19A0-ED13-29900F42C042}"/>
              </a:ext>
            </a:extLst>
          </p:cNvPr>
          <p:cNvSpPr txBox="1"/>
          <p:nvPr/>
        </p:nvSpPr>
        <p:spPr>
          <a:xfrm>
            <a:off x="771525" y="1646995"/>
            <a:ext cx="6167802" cy="430887"/>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Input Data</a:t>
            </a:r>
          </a:p>
        </p:txBody>
      </p:sp>
      <p:sp>
        <p:nvSpPr>
          <p:cNvPr id="14" name="TextBox 13">
            <a:extLst>
              <a:ext uri="{FF2B5EF4-FFF2-40B4-BE49-F238E27FC236}">
                <a16:creationId xmlns:a16="http://schemas.microsoft.com/office/drawing/2014/main" id="{697EE1F3-1997-9517-F653-68A595E36B72}"/>
              </a:ext>
            </a:extLst>
          </p:cNvPr>
          <p:cNvSpPr txBox="1"/>
          <p:nvPr/>
        </p:nvSpPr>
        <p:spPr>
          <a:xfrm>
            <a:off x="5976845" y="1729460"/>
            <a:ext cx="6167802" cy="3785652"/>
          </a:xfrm>
          <a:prstGeom prst="rect">
            <a:avLst/>
          </a:prstGeom>
          <a:noFill/>
        </p:spPr>
        <p:txBody>
          <a:bodyPr wrap="square">
            <a:spAutoFit/>
          </a:bodyPr>
          <a:lstStyle/>
          <a:p>
            <a:pPr>
              <a:buNone/>
            </a:pPr>
            <a:r>
              <a:rPr lang="en-IN" sz="2200" b="1" dirty="0">
                <a:latin typeface="Times New Roman" panose="02020603050405020304" pitchFamily="18" charset="0"/>
                <a:cs typeface="Times New Roman" panose="02020603050405020304" pitchFamily="18" charset="0"/>
              </a:rPr>
              <a:t>Test scenarios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Valid authentication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Invalid signature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Replayed challenge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Expired challenge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Revoked identity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Expired/revoked session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Unknown/revoked device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Unauthorized resource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Permission revocation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Unauthorized admin action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Blockchain synchronization delay</a:t>
            </a:r>
          </a:p>
        </p:txBody>
      </p:sp>
    </p:spTree>
    <p:extLst>
      <p:ext uri="{BB962C8B-B14F-4D97-AF65-F5344CB8AC3E}">
        <p14:creationId xmlns:p14="http://schemas.microsoft.com/office/powerpoint/2010/main" val="2477047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A37CD23-A396-5287-5EA2-1F7A22F2BC40}"/>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2FDBC78A-B88E-296F-CE76-36C4D7CDF601}"/>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2AB323B9-CB56-457C-A999-08B266CAF92B}"/>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DB3B62B2-E426-0C76-52F2-DF0DE667E63F}"/>
              </a:ext>
            </a:extLst>
          </p:cNvPr>
          <p:cNvSpPr txBox="1"/>
          <p:nvPr/>
        </p:nvSpPr>
        <p:spPr>
          <a:xfrm>
            <a:off x="799024" y="904281"/>
            <a:ext cx="11181300" cy="492443"/>
          </a:xfrm>
          <a:prstGeom prst="rect">
            <a:avLst/>
          </a:prstGeom>
          <a:noFill/>
          <a:ln>
            <a:noFill/>
          </a:ln>
        </p:spPr>
        <p:txBody>
          <a:bodyPr spcFirstLastPara="1" wrap="square" lIns="0" tIns="0" rIns="0" bIns="0" anchor="t" anchorCtr="0">
            <a:spAutoFit/>
          </a:bodyPr>
          <a:lstStyle/>
          <a:p>
            <a:pPr lvl="0"/>
            <a:r>
              <a:rPr lang="en-IN" sz="3200" b="1" dirty="0">
                <a:latin typeface="Times New Roman" panose="02020603050405020304" pitchFamily="18" charset="0"/>
                <a:cs typeface="Times New Roman" panose="02020603050405020304" pitchFamily="18" charset="0"/>
              </a:rPr>
              <a:t>Experimental Setup — Technology Stack</a:t>
            </a:r>
            <a:endParaRPr lang="en-US" b="1"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8464A4A5-D4D9-ED94-5745-31DD55E704DE}"/>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20DBFA33-84BF-C179-06F3-638DDCF44510}"/>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09</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22256A7-5828-1ACE-F561-5C9E6D4CD7F4}"/>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a:ea typeface="Times New Roman"/>
                <a:cs typeface="Times New Roman"/>
                <a:sym typeface="Times New Roman"/>
              </a:rPr>
              <a:t>B.E.(I.T.) / MAJOR PROJECT 2026-27</a:t>
            </a:r>
            <a:endParaRPr lang="en-US" sz="3000" dirty="0">
              <a:solidFill>
                <a:srgbClr val="000000"/>
              </a:solidFill>
              <a:latin typeface="Times New Roman"/>
              <a:ea typeface="Times New Roman"/>
              <a:cs typeface="Times New Roman"/>
              <a:sym typeface="Times New Roman"/>
            </a:endParaRPr>
          </a:p>
        </p:txBody>
      </p:sp>
      <p:pic>
        <p:nvPicPr>
          <p:cNvPr id="8" name="Google Shape;91;p13" title="dbit logo.jpeg">
            <a:extLst>
              <a:ext uri="{FF2B5EF4-FFF2-40B4-BE49-F238E27FC236}">
                <a16:creationId xmlns:a16="http://schemas.microsoft.com/office/drawing/2014/main" id="{9D3DDC79-E009-197F-0D8C-352A9449491E}"/>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10" name="TextBox 9">
            <a:extLst>
              <a:ext uri="{FF2B5EF4-FFF2-40B4-BE49-F238E27FC236}">
                <a16:creationId xmlns:a16="http://schemas.microsoft.com/office/drawing/2014/main" id="{989F13F5-BF39-6F29-A3AC-25971DE81A8B}"/>
              </a:ext>
            </a:extLst>
          </p:cNvPr>
          <p:cNvSpPr txBox="1"/>
          <p:nvPr/>
        </p:nvSpPr>
        <p:spPr>
          <a:xfrm>
            <a:off x="771524" y="1690950"/>
            <a:ext cx="11625629" cy="2806987"/>
          </a:xfrm>
          <a:prstGeom prst="rect">
            <a:avLst/>
          </a:prstGeom>
          <a:noFill/>
        </p:spPr>
        <p:txBody>
          <a:bodyPr wrap="square">
            <a:spAutoFit/>
          </a:bodyPr>
          <a:lstStyle/>
          <a:p>
            <a:pPr lvl="0">
              <a:lnSpc>
                <a:spcPct val="150000"/>
              </a:lnSpc>
            </a:pPr>
            <a:r>
              <a:rPr lang="en-IN" sz="2000" b="1" dirty="0">
                <a:latin typeface="Times New Roman" panose="02020603050405020304" pitchFamily="18" charset="0"/>
                <a:cs typeface="Times New Roman" panose="02020603050405020304" pitchFamily="18" charset="0"/>
              </a:rPr>
              <a:t>Frontend:</a:t>
            </a:r>
            <a:r>
              <a:rPr lang="en-IN" sz="2000" dirty="0">
                <a:latin typeface="Times New Roman" panose="02020603050405020304" pitchFamily="18" charset="0"/>
                <a:cs typeface="Times New Roman" panose="02020603050405020304" pitchFamily="18" charset="0"/>
              </a:rPr>
              <a:t> React + Vite → MetaMask + ethers.js</a:t>
            </a:r>
          </a:p>
          <a:p>
            <a:pPr lvl="0">
              <a:lnSpc>
                <a:spcPct val="150000"/>
              </a:lnSpc>
            </a:pPr>
            <a:r>
              <a:rPr lang="en-IN" sz="2000" b="1" dirty="0">
                <a:latin typeface="Times New Roman" panose="02020603050405020304" pitchFamily="18" charset="0"/>
                <a:cs typeface="Times New Roman" panose="02020603050405020304" pitchFamily="18" charset="0"/>
              </a:rPr>
              <a:t>Backend persistence:</a:t>
            </a:r>
            <a:r>
              <a:rPr lang="en-IN" sz="2000" dirty="0">
                <a:latin typeface="Times New Roman" panose="02020603050405020304" pitchFamily="18" charset="0"/>
                <a:cs typeface="Times New Roman" panose="02020603050405020304" pitchFamily="18" charset="0"/>
              </a:rPr>
              <a:t> Node.js + Express + Zod → MongoDB + Mongoose</a:t>
            </a:r>
          </a:p>
          <a:p>
            <a:pPr lvl="0">
              <a:lnSpc>
                <a:spcPct val="150000"/>
              </a:lnSpc>
            </a:pPr>
            <a:r>
              <a:rPr lang="en-IN" sz="2000" b="1" dirty="0">
                <a:latin typeface="Times New Roman" panose="02020603050405020304" pitchFamily="18" charset="0"/>
                <a:cs typeface="Times New Roman" panose="02020603050405020304" pitchFamily="18" charset="0"/>
              </a:rPr>
              <a:t>Backend blockchain integration:</a:t>
            </a:r>
            <a:r>
              <a:rPr lang="en-IN" sz="2000" dirty="0">
                <a:latin typeface="Times New Roman" panose="02020603050405020304" pitchFamily="18" charset="0"/>
                <a:cs typeface="Times New Roman" panose="02020603050405020304" pitchFamily="18" charset="0"/>
              </a:rPr>
              <a:t> Node.js + Express + ethers.js → Deployed Smart Contracts</a:t>
            </a:r>
          </a:p>
          <a:p>
            <a:pPr lvl="0">
              <a:lnSpc>
                <a:spcPct val="150000"/>
              </a:lnSpc>
            </a:pPr>
            <a:r>
              <a:rPr lang="en-IN" sz="2000" b="1" dirty="0">
                <a:latin typeface="Times New Roman" panose="02020603050405020304" pitchFamily="18" charset="0"/>
                <a:cs typeface="Times New Roman" panose="02020603050405020304" pitchFamily="18" charset="0"/>
              </a:rPr>
              <a:t>Smart contracts:</a:t>
            </a:r>
            <a:r>
              <a:rPr lang="en-IN" sz="2000" dirty="0">
                <a:latin typeface="Times New Roman" panose="02020603050405020304" pitchFamily="18" charset="0"/>
                <a:cs typeface="Times New Roman" panose="02020603050405020304" pitchFamily="18" charset="0"/>
              </a:rPr>
              <a:t> Solidity + Hardhat</a:t>
            </a:r>
          </a:p>
          <a:p>
            <a:pPr lvl="0">
              <a:lnSpc>
                <a:spcPct val="150000"/>
              </a:lnSpc>
            </a:pPr>
            <a:r>
              <a:rPr lang="en-IN" sz="2000" b="1" dirty="0">
                <a:latin typeface="Times New Roman" panose="02020603050405020304" pitchFamily="18" charset="0"/>
                <a:cs typeface="Times New Roman" panose="02020603050405020304" pitchFamily="18" charset="0"/>
              </a:rPr>
              <a:t>Security: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OpenZeppelin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AccessControl</a:t>
            </a:r>
            <a:r>
              <a:rPr lang="en-IN" sz="2000" dirty="0">
                <a:latin typeface="Times New Roman" panose="02020603050405020304" pitchFamily="18" charset="0"/>
                <a:cs typeface="Times New Roman" panose="02020603050405020304" pitchFamily="18" charset="0"/>
              </a:rPr>
              <a:t> → Smart Contracts</a:t>
            </a:r>
          </a:p>
          <a:p>
            <a:pPr lvl="0">
              <a:lnSpc>
                <a:spcPct val="150000"/>
              </a:lnSpc>
            </a:pPr>
            <a:r>
              <a:rPr lang="en-IN" sz="2000" b="1" dirty="0">
                <a:latin typeface="Times New Roman" panose="02020603050405020304" pitchFamily="18" charset="0"/>
                <a:cs typeface="Times New Roman" panose="02020603050405020304" pitchFamily="18" charset="0"/>
              </a:rPr>
              <a:t>Testing: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Vitest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Supertest</a:t>
            </a:r>
            <a:r>
              <a:rPr lang="en-IN" sz="2000" dirty="0">
                <a:latin typeface="Times New Roman" panose="02020603050405020304" pitchFamily="18" charset="0"/>
                <a:cs typeface="Times New Roman" panose="02020603050405020304" pitchFamily="18" charset="0"/>
              </a:rPr>
              <a:t> + Hardhat + Chai</a:t>
            </a:r>
          </a:p>
        </p:txBody>
      </p:sp>
    </p:spTree>
    <p:extLst>
      <p:ext uri="{BB962C8B-B14F-4D97-AF65-F5344CB8AC3E}">
        <p14:creationId xmlns:p14="http://schemas.microsoft.com/office/powerpoint/2010/main" val="2039100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5A0A1FB-1BCC-01DE-E2B9-90E01820F535}"/>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40E6E6FD-2A12-B1CD-B158-FBCA95F6BA7A}"/>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4527279B-1D12-C90D-EFA7-86EA463EFE73}"/>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29E50C67-3B43-8ADE-7836-5175660FFCA0}"/>
              </a:ext>
            </a:extLst>
          </p:cNvPr>
          <p:cNvSpPr txBox="1"/>
          <p:nvPr/>
        </p:nvSpPr>
        <p:spPr>
          <a:xfrm>
            <a:off x="799024" y="904281"/>
            <a:ext cx="11181300" cy="492443"/>
          </a:xfrm>
          <a:prstGeom prst="rect">
            <a:avLst/>
          </a:prstGeom>
          <a:noFill/>
          <a:ln>
            <a:noFill/>
          </a:ln>
        </p:spPr>
        <p:txBody>
          <a:bodyPr spcFirstLastPara="1" wrap="square" lIns="0" tIns="0" rIns="0" bIns="0" anchor="t" anchorCtr="0">
            <a:spAutoFit/>
          </a:bodyPr>
          <a:lstStyle/>
          <a:p>
            <a:pPr lvl="0"/>
            <a:r>
              <a:rPr lang="en-IN" sz="3200" b="1" dirty="0">
                <a:latin typeface="Times New Roman" panose="02020603050405020304" pitchFamily="18" charset="0"/>
                <a:cs typeface="Times New Roman" panose="02020603050405020304" pitchFamily="18" charset="0"/>
              </a:rPr>
              <a:t>Experimental Setup — Implementation Plan</a:t>
            </a:r>
            <a:endParaRPr lang="en-US" b="1"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0C49BCB8-6FA9-EFC3-2391-1236C2374DEE}"/>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 name="Rectangle 2">
            <a:extLst>
              <a:ext uri="{FF2B5EF4-FFF2-40B4-BE49-F238E27FC236}">
                <a16:creationId xmlns:a16="http://schemas.microsoft.com/office/drawing/2014/main" id="{05B45ADD-04AC-9BA6-0BB0-0F8AC5A78B4B}"/>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10</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F8FF8FD-F82F-0323-B6F3-C13F5EE4B9D0}"/>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Google Shape;91;p13" title="dbit logo.jpeg">
            <a:extLst>
              <a:ext uri="{FF2B5EF4-FFF2-40B4-BE49-F238E27FC236}">
                <a16:creationId xmlns:a16="http://schemas.microsoft.com/office/drawing/2014/main" id="{35E3D373-4232-0732-CF5E-ACF5AA764E47}"/>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10" name="TextBox 9">
            <a:extLst>
              <a:ext uri="{FF2B5EF4-FFF2-40B4-BE49-F238E27FC236}">
                <a16:creationId xmlns:a16="http://schemas.microsoft.com/office/drawing/2014/main" id="{C3A1645E-F4F0-C789-613F-AE3F20307AD9}"/>
              </a:ext>
            </a:extLst>
          </p:cNvPr>
          <p:cNvSpPr txBox="1"/>
          <p:nvPr/>
        </p:nvSpPr>
        <p:spPr>
          <a:xfrm>
            <a:off x="1348154" y="1846597"/>
            <a:ext cx="4023946" cy="347787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Semester I — Major Project I</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Foundation &amp; MVP Core</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Requirements and architecture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MongoDB persistence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Identity and authentication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Session management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Zero Trust authorization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Device lifecycle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Smart-contract design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Initial testing</a:t>
            </a:r>
          </a:p>
        </p:txBody>
      </p:sp>
      <p:sp>
        <p:nvSpPr>
          <p:cNvPr id="4" name="TextBox 3">
            <a:extLst>
              <a:ext uri="{FF2B5EF4-FFF2-40B4-BE49-F238E27FC236}">
                <a16:creationId xmlns:a16="http://schemas.microsoft.com/office/drawing/2014/main" id="{E48FE194-F5D7-239C-0707-98B2B6ABF6B9}"/>
              </a:ext>
            </a:extLst>
          </p:cNvPr>
          <p:cNvSpPr txBox="1"/>
          <p:nvPr/>
        </p:nvSpPr>
        <p:spPr>
          <a:xfrm>
            <a:off x="5697415" y="1808978"/>
            <a:ext cx="4668715" cy="3785652"/>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Semester II — Major Project II</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Integration &amp; Production MVP</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Functional smart contracts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Blockchain event synchronization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Trusted blockchain cache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MetaMask frontend integration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Admin dashboard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Persistent audit logging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Merkle/hash anchoring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End-to-end security testing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Final deployment and demonstration</a:t>
            </a:r>
          </a:p>
        </p:txBody>
      </p:sp>
    </p:spTree>
    <p:extLst>
      <p:ext uri="{BB962C8B-B14F-4D97-AF65-F5344CB8AC3E}">
        <p14:creationId xmlns:p14="http://schemas.microsoft.com/office/powerpoint/2010/main" val="188508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E56A069-E6B2-EA48-3286-26D942BB9428}"/>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3DBE6ED9-86C0-ACB9-07B3-7A50978AFE8A}"/>
              </a:ext>
            </a:extLst>
          </p:cNvPr>
          <p:cNvPicPr preferRelativeResize="0"/>
          <p:nvPr/>
        </p:nvPicPr>
        <p:blipFill rotWithShape="1">
          <a:blip r:embed="rId3"/>
          <a:srcRect/>
          <a:stretch/>
        </p:blipFill>
        <p:spPr>
          <a:xfrm>
            <a:off x="0" y="0"/>
            <a:ext cx="12192000" cy="6858000"/>
          </a:xfrm>
          <a:prstGeom prst="rect">
            <a:avLst/>
          </a:prstGeom>
        </p:spPr>
      </p:pic>
      <p:pic>
        <p:nvPicPr>
          <p:cNvPr id="97" name="Google Shape;97;p14" descr="image.png">
            <a:extLst>
              <a:ext uri="{FF2B5EF4-FFF2-40B4-BE49-F238E27FC236}">
                <a16:creationId xmlns:a16="http://schemas.microsoft.com/office/drawing/2014/main" id="{9D5A1719-7613-2B10-7DCB-B7F6D50EE78A}"/>
              </a:ext>
            </a:extLst>
          </p:cNvPr>
          <p:cNvPicPr preferRelativeResize="0"/>
          <p:nvPr/>
        </p:nvPicPr>
        <p:blipFill rotWithShape="1">
          <a:blip r:embed="rId4">
            <a:alphaModFix/>
          </a:blip>
          <a:srcRect/>
          <a:stretch/>
        </p:blipFill>
        <p:spPr>
          <a:xfrm>
            <a:off x="771525" y="6305550"/>
            <a:ext cx="10648950" cy="257175"/>
          </a:xfrm>
          <a:prstGeom prst="rect">
            <a:avLst/>
          </a:prstGeom>
          <a:noFill/>
          <a:ln>
            <a:noFill/>
          </a:ln>
        </p:spPr>
      </p:pic>
      <p:sp>
        <p:nvSpPr>
          <p:cNvPr id="98" name="Google Shape;98;p14">
            <a:extLst>
              <a:ext uri="{FF2B5EF4-FFF2-40B4-BE49-F238E27FC236}">
                <a16:creationId xmlns:a16="http://schemas.microsoft.com/office/drawing/2014/main" id="{889909A2-25DC-06A8-011A-35C7B0D4E47F}"/>
              </a:ext>
            </a:extLst>
          </p:cNvPr>
          <p:cNvSpPr txBox="1"/>
          <p:nvPr/>
        </p:nvSpPr>
        <p:spPr>
          <a:xfrm>
            <a:off x="799024" y="904281"/>
            <a:ext cx="11181300" cy="492443"/>
          </a:xfrm>
          <a:prstGeom prst="rect">
            <a:avLst/>
          </a:prstGeom>
          <a:noFill/>
          <a:ln>
            <a:noFill/>
          </a:ln>
        </p:spPr>
        <p:txBody>
          <a:bodyPr spcFirstLastPara="1" wrap="square" lIns="0" tIns="0" rIns="0" bIns="0" anchor="t" anchorCtr="0">
            <a:spAutoFit/>
          </a:bodyPr>
          <a:lstStyle/>
          <a:p>
            <a:pPr lvl="0"/>
            <a:r>
              <a:rPr lang="en-IN" sz="3200"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14">
            <a:extLst>
              <a:ext uri="{FF2B5EF4-FFF2-40B4-BE49-F238E27FC236}">
                <a16:creationId xmlns:a16="http://schemas.microsoft.com/office/drawing/2014/main" id="{279B61F8-E0CA-42D3-ED53-A88056F4D73F}"/>
              </a:ext>
            </a:extLst>
          </p:cNvPr>
          <p:cNvSpPr/>
          <p:nvPr/>
        </p:nvSpPr>
        <p:spPr>
          <a:xfrm>
            <a:off x="771525" y="1421010"/>
            <a:ext cx="1064895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 name="Rectangle 2">
            <a:extLst>
              <a:ext uri="{FF2B5EF4-FFF2-40B4-BE49-F238E27FC236}">
                <a16:creationId xmlns:a16="http://schemas.microsoft.com/office/drawing/2014/main" id="{EDEC7BB6-84C8-6CFA-CEA7-4ADE17395D3A}"/>
              </a:ext>
            </a:extLst>
          </p:cNvPr>
          <p:cNvSpPr/>
          <p:nvPr/>
        </p:nvSpPr>
        <p:spPr>
          <a:xfrm>
            <a:off x="10655283" y="6478715"/>
            <a:ext cx="1489364" cy="3299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800" dirty="0">
                <a:latin typeface="Times New Roman" panose="02020603050405020304" pitchFamily="18" charset="0"/>
                <a:cs typeface="Times New Roman" panose="02020603050405020304" pitchFamily="18" charset="0"/>
              </a:rPr>
              <a:t>11</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A54BE1-D7F3-D304-A810-E9F19D0F3770}"/>
              </a:ext>
            </a:extLst>
          </p:cNvPr>
          <p:cNvSpPr txBox="1"/>
          <p:nvPr/>
        </p:nvSpPr>
        <p:spPr>
          <a:xfrm>
            <a:off x="2787694" y="175142"/>
            <a:ext cx="6616612" cy="553998"/>
          </a:xfrm>
          <a:prstGeom prst="rect">
            <a:avLst/>
          </a:prstGeom>
          <a:noFill/>
        </p:spPr>
        <p:txBody>
          <a:bodyPr wrap="square">
            <a:spAutoFit/>
          </a:bodyPr>
          <a:lstStyle/>
          <a:p>
            <a:pPr lvl="0" algn="ctr"/>
            <a:r>
              <a:rPr lang="en-US" sz="3000" dirty="0">
                <a:latin typeface="Times New Roman" panose="02020603050405020304" pitchFamily="18" charset="0"/>
                <a:ea typeface="Times New Roman"/>
                <a:cs typeface="Times New Roman" panose="02020603050405020304" pitchFamily="18" charset="0"/>
                <a:sym typeface="Times New Roman"/>
              </a:rPr>
              <a:t>B.E.(I.T.) / MAJOR PROJECT 2026-27</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Google Shape;91;p13" title="dbit logo.jpeg">
            <a:extLst>
              <a:ext uri="{FF2B5EF4-FFF2-40B4-BE49-F238E27FC236}">
                <a16:creationId xmlns:a16="http://schemas.microsoft.com/office/drawing/2014/main" id="{816C3BE3-6E06-5EE3-A7ED-857A497AB2EF}"/>
              </a:ext>
            </a:extLst>
          </p:cNvPr>
          <p:cNvPicPr preferRelativeResize="0"/>
          <p:nvPr/>
        </p:nvPicPr>
        <p:blipFill>
          <a:blip r:embed="rId5">
            <a:alphaModFix/>
          </a:blip>
          <a:stretch>
            <a:fillRect/>
          </a:stretch>
        </p:blipFill>
        <p:spPr>
          <a:xfrm>
            <a:off x="10972030" y="116049"/>
            <a:ext cx="1210138" cy="1121516"/>
          </a:xfrm>
          <a:prstGeom prst="rect">
            <a:avLst/>
          </a:prstGeom>
          <a:noFill/>
          <a:ln>
            <a:noFill/>
          </a:ln>
        </p:spPr>
      </p:pic>
      <p:sp>
        <p:nvSpPr>
          <p:cNvPr id="5" name="TextBox 4">
            <a:extLst>
              <a:ext uri="{FF2B5EF4-FFF2-40B4-BE49-F238E27FC236}">
                <a16:creationId xmlns:a16="http://schemas.microsoft.com/office/drawing/2014/main" id="{425EC8E9-7FF5-E638-12C0-F5BB54BA0038}"/>
              </a:ext>
            </a:extLst>
          </p:cNvPr>
          <p:cNvSpPr txBox="1"/>
          <p:nvPr/>
        </p:nvSpPr>
        <p:spPr>
          <a:xfrm>
            <a:off x="799024" y="2659554"/>
            <a:ext cx="10789238" cy="255454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[1] M. </a:t>
            </a:r>
            <a:r>
              <a:rPr lang="en-IN" sz="2000" dirty="0" err="1">
                <a:latin typeface="Times New Roman" panose="02020603050405020304" pitchFamily="18" charset="0"/>
                <a:cs typeface="Times New Roman" panose="02020603050405020304" pitchFamily="18" charset="0"/>
              </a:rPr>
              <a:t>Sporny</a:t>
            </a:r>
            <a:r>
              <a:rPr lang="en-IN" sz="2000" dirty="0">
                <a:latin typeface="Times New Roman" panose="02020603050405020304" pitchFamily="18" charset="0"/>
                <a:cs typeface="Times New Roman" panose="02020603050405020304" pitchFamily="18" charset="0"/>
              </a:rPr>
              <a:t>, A. Guy, M. </a:t>
            </a:r>
            <a:r>
              <a:rPr lang="en-IN" sz="2000" dirty="0" err="1">
                <a:latin typeface="Times New Roman" panose="02020603050405020304" pitchFamily="18" charset="0"/>
                <a:cs typeface="Times New Roman" panose="02020603050405020304" pitchFamily="18" charset="0"/>
              </a:rPr>
              <a:t>Sabadello</a:t>
            </a:r>
            <a:r>
              <a:rPr lang="en-IN" sz="2000" dirty="0">
                <a:latin typeface="Times New Roman" panose="02020603050405020304" pitchFamily="18" charset="0"/>
                <a:cs typeface="Times New Roman" panose="02020603050405020304" pitchFamily="18" charset="0"/>
              </a:rPr>
              <a:t>, D. Longley, M. Reed, O. Steele, and C. Allen, “Decentralized Identifiers (DIDs) v1.0,” W3C Recommendation, Jul. 19, 2022. </a:t>
            </a:r>
          </a:p>
          <a:p>
            <a:r>
              <a:rPr lang="en-IN" sz="2000" dirty="0">
                <a:latin typeface="Times New Roman" panose="02020603050405020304" pitchFamily="18" charset="0"/>
                <a:cs typeface="Times New Roman" panose="02020603050405020304" pitchFamily="18" charset="0"/>
              </a:rPr>
              <a:t>[2] S. Rose, O. Borchert, S. Mitchell, and S. Connelly, </a:t>
            </a:r>
            <a:r>
              <a:rPr lang="en-IN" sz="2000" i="1" dirty="0">
                <a:latin typeface="Times New Roman" panose="02020603050405020304" pitchFamily="18" charset="0"/>
                <a:cs typeface="Times New Roman" panose="02020603050405020304" pitchFamily="18" charset="0"/>
              </a:rPr>
              <a:t>Zero Trust Architecture</a:t>
            </a:r>
            <a:r>
              <a:rPr lang="en-IN" sz="2000" dirty="0">
                <a:latin typeface="Times New Roman" panose="02020603050405020304" pitchFamily="18" charset="0"/>
                <a:cs typeface="Times New Roman" panose="02020603050405020304" pitchFamily="18" charset="0"/>
              </a:rPr>
              <a:t>, NIST Special Publication 800-207, National Institute of Standards and Technology, Gaithersburg, MD, Aug. 2020.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10.6028/NIST.SP.800-207. </a:t>
            </a:r>
          </a:p>
          <a:p>
            <a:r>
              <a:rPr lang="en-IN" sz="2000" dirty="0">
                <a:latin typeface="Times New Roman" panose="02020603050405020304" pitchFamily="18" charset="0"/>
                <a:cs typeface="Times New Roman" panose="02020603050405020304" pitchFamily="18" charset="0"/>
              </a:rPr>
              <a:t>[3] W. Chang, G. Rocco, B. Millegan, N. Johnson, O. </a:t>
            </a:r>
            <a:r>
              <a:rPr lang="en-IN" sz="2000" dirty="0" err="1">
                <a:latin typeface="Times New Roman" panose="02020603050405020304" pitchFamily="18" charset="0"/>
                <a:cs typeface="Times New Roman" panose="02020603050405020304" pitchFamily="18" charset="0"/>
              </a:rPr>
              <a:t>Terbu</a:t>
            </a:r>
            <a:r>
              <a:rPr lang="en-IN" sz="2000" dirty="0">
                <a:latin typeface="Times New Roman" panose="02020603050405020304" pitchFamily="18" charset="0"/>
                <a:cs typeface="Times New Roman" panose="02020603050405020304" pitchFamily="18" charset="0"/>
              </a:rPr>
              <a:t>, and others, “Sign-In with Ethereum,” Ethereum Improvement Proposal 4361, Oct. 2021. </a:t>
            </a:r>
          </a:p>
          <a:p>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OpenZeppelin</a:t>
            </a:r>
            <a:r>
              <a:rPr lang="en-IN" sz="2000" dirty="0">
                <a:latin typeface="Times New Roman" panose="02020603050405020304" pitchFamily="18" charset="0"/>
                <a:cs typeface="Times New Roman" panose="02020603050405020304" pitchFamily="18" charset="0"/>
              </a:rPr>
              <a:t>, “Access Control,” </a:t>
            </a:r>
            <a:r>
              <a:rPr lang="en-IN" sz="2000" i="1" dirty="0" err="1">
                <a:latin typeface="Times New Roman" panose="02020603050405020304" pitchFamily="18" charset="0"/>
                <a:cs typeface="Times New Roman" panose="02020603050405020304" pitchFamily="18" charset="0"/>
              </a:rPr>
              <a:t>OpenZeppelin</a:t>
            </a:r>
            <a:r>
              <a:rPr lang="en-IN" sz="2000" i="1" dirty="0">
                <a:latin typeface="Times New Roman" panose="02020603050405020304" pitchFamily="18" charset="0"/>
                <a:cs typeface="Times New Roman" panose="02020603050405020304" pitchFamily="18" charset="0"/>
              </a:rPr>
              <a:t> Contracts Documentation</a:t>
            </a:r>
            <a:r>
              <a:rPr lang="en-IN" sz="2000" dirty="0">
                <a:latin typeface="Times New Roman" panose="02020603050405020304" pitchFamily="18" charset="0"/>
                <a:cs typeface="Times New Roman" panose="02020603050405020304" pitchFamily="18" charset="0"/>
              </a:rPr>
              <a:t>, 2026. </a:t>
            </a:r>
          </a:p>
        </p:txBody>
      </p:sp>
    </p:spTree>
    <p:extLst>
      <p:ext uri="{BB962C8B-B14F-4D97-AF65-F5344CB8AC3E}">
        <p14:creationId xmlns:p14="http://schemas.microsoft.com/office/powerpoint/2010/main" val="359825774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1495</TotalTime>
  <Words>1163</Words>
  <Application>Microsoft Office PowerPoint</Application>
  <PresentationFormat>Widescreen</PresentationFormat>
  <Paragraphs>181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 Hanchate</dc:creator>
  <cp:lastModifiedBy>Zaheen Siddiqui</cp:lastModifiedBy>
  <cp:revision>31</cp:revision>
  <dcterms:modified xsi:type="dcterms:W3CDTF">2026-09-09T05:12:46Z</dcterms:modified>
</cp:coreProperties>
</file>